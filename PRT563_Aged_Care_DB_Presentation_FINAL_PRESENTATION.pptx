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as a database system for an Australian aged-care and disability-support provider. The presentation explains the business problem, conceptual models, relational mapping, normalization, SQLite implementation, and the required SQL queries.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project scope was deliberately kept around the service lifecycle. The model captures how clients receive support, how workers are assigned, how service delivery is documented, and how invoicing/payment is handled.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short. Explain how the group worked together and that WhatsApp was used as the main coordination channel. Before final submission, add one or two screenshots that demonstrate communication and progress updates.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explain the conceptual model. Highlight PERSON as a supertype with CLIENT and SUPPORT_WORKER as subtypes. Mention service agreements, bookings, deliveries, notes, incidents, invoices and payments. Also mention that invoice total is derived from invoice line amounts.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UML model mirrors the EER model in class notation. Focus on the generalisation from PERSON to CLIENT and SUPPORT_WORKER, the multiplicities around bookings, and the invoice to invoice line relationship.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how the conceptual design was mapped to relations. Primary keys identify each table, foreign keys implement relationships, and unique constraints enforce maximum-one constraints for delivery and invoice-line relationships.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should be presented as a short explanation rather than a report. State that the design satisfies 1NF, 2NF and 3NF, then give examples such as worker qualifications, funding body details and the derived invoice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final database was implemented in SQLite, not just MySQL. The screenshot confirms the 18 tables. Mention that sample data was inserted and row counts were 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Query 1, explain that it finds scheduled bookings during September for selected workers. For Query 2, explain that it filters active funding allocations and calculates remaining balances.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purpose of the LEFT OUTER JOIN. The important result is David Turner, who has no service agreement and no bookings but still appears in the output. This directly demonstrates why an outer join is appropriate.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Query 4 is the complex query because it compares each worker's delivery count with an average calculated in a subquery. Then quickly connect this to integrity features such as UNIQUE constraints and the derived invoice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update demonstration and the main limitation. The limitation is useful because the rubric values the ability to articulate modelling limitations. End by stating that the database design, implementation and required queries have been completed.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6F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 Id="rId4" Type="http://schemas.openxmlformats.org/officeDocument/2006/relationships/image" Target="../media/image1.png"/><Relationship Id="rId5"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 Id="rId5" Type="http://schemas.openxmlformats.org/officeDocument/2006/relationships/image" Target="../media/image4.png"/><Relationship Id="rId6"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3D3E"/>
        </a:solidFill>
      </p:bgPr>
    </p:bg>
    <p:spTree>
      <p:nvGrpSpPr>
        <p:cNvPr id="1" name=""/>
        <p:cNvGrpSpPr/>
        <p:nvPr/>
      </p:nvGrpSpPr>
      <p:grpSpPr>
        <a:xfrm>
          <a:off x="0" y="0"/>
          <a:ext cx="0" cy="0"/>
          <a:chOff x="0" y="0"/>
          <a:chExt cx="0" cy="0"/>
        </a:xfrm>
      </p:grpSpPr>
      <p:sp>
        <p:nvSpPr>
          <p:cNvPr id="2" name="Text 0"/>
          <p:cNvSpPr/>
          <p:nvPr/>
        </p:nvSpPr>
        <p:spPr>
          <a:xfrm>
            <a:off x="640080" y="475488"/>
            <a:ext cx="7863840" cy="256032"/>
          </a:xfrm>
          <a:prstGeom prst="rect">
            <a:avLst/>
          </a:prstGeom>
          <a:noFill/>
          <a:ln/>
        </p:spPr>
        <p:txBody>
          <a:bodyPr wrap="square" lIns="0" tIns="0" rIns="0" bIns="0" rtlCol="0" anchor="ctr"/>
          <a:lstStyle/>
          <a:p>
            <a:pPr indent="0" marL="0">
              <a:buNone/>
            </a:pPr>
            <a:r>
              <a:rPr lang="en-US" sz="1200" b="1" dirty="0">
                <a:solidFill>
                  <a:srgbClr val="DDEFEA"/>
                </a:solidFill>
              </a:rPr>
              <a:t>PRT563 Advanced Data Management</a:t>
            </a:r>
            <a:endParaRPr lang="en-US" sz="1200" dirty="0"/>
          </a:p>
        </p:txBody>
      </p:sp>
      <p:sp>
        <p:nvSpPr>
          <p:cNvPr id="3" name="Text 1"/>
          <p:cNvSpPr/>
          <p:nvPr/>
        </p:nvSpPr>
        <p:spPr>
          <a:xfrm>
            <a:off x="640080" y="1097280"/>
            <a:ext cx="8595360" cy="1234440"/>
          </a:xfrm>
          <a:prstGeom prst="rect">
            <a:avLst/>
          </a:prstGeom>
          <a:noFill/>
          <a:ln/>
        </p:spPr>
        <p:txBody>
          <a:bodyPr wrap="square" lIns="0" tIns="0" rIns="0" bIns="0" rtlCol="0" anchor="ctr">
            <a:normAutofit/>
          </a:bodyPr>
          <a:lstStyle/>
          <a:p>
            <a:pPr indent="0" marL="0">
              <a:buNone/>
            </a:pPr>
            <a:r>
              <a:rPr lang="en-US" sz="3400" b="1" dirty="0">
                <a:solidFill>
                  <a:srgbClr val="FFFFFF"/>
                </a:solidFill>
              </a:rPr>
              <a:t>Aged-Care &amp; Disability-Support</a:t>
            </a:r>
            <a:endParaRPr lang="en-US" sz="3400" dirty="0"/>
          </a:p>
          <a:p>
            <a:pPr indent="0" marL="0">
              <a:buNone/>
            </a:pPr>
            <a:r>
              <a:rPr lang="en-US" sz="3400" b="1" dirty="0">
                <a:solidFill>
                  <a:srgbClr val="FFFFFF"/>
                </a:solidFill>
              </a:rPr>
              <a:t>Service Management System</a:t>
            </a:r>
            <a:endParaRPr lang="en-US" sz="3400" dirty="0"/>
          </a:p>
        </p:txBody>
      </p:sp>
      <p:sp>
        <p:nvSpPr>
          <p:cNvPr id="4" name="Shape 2"/>
          <p:cNvSpPr/>
          <p:nvPr/>
        </p:nvSpPr>
        <p:spPr>
          <a:xfrm>
            <a:off x="658368" y="2578608"/>
            <a:ext cx="4389120" cy="0"/>
          </a:xfrm>
          <a:prstGeom prst="line">
            <a:avLst/>
          </a:prstGeom>
          <a:noFill/>
          <a:ln w="27940">
            <a:solidFill>
              <a:srgbClr val="D9A441"/>
            </a:solidFill>
            <a:prstDash val="solid"/>
          </a:ln>
        </p:spPr>
        <p:txBody>
          <a:bodyPr/>
          <a:p/>
        </p:txBody>
      </p:sp>
      <p:sp>
        <p:nvSpPr>
          <p:cNvPr id="5" name="Text 3"/>
          <p:cNvSpPr/>
          <p:nvPr/>
        </p:nvSpPr>
        <p:spPr>
          <a:xfrm>
            <a:off x="640080" y="2880360"/>
            <a:ext cx="7589520" cy="731520"/>
          </a:xfrm>
          <a:prstGeom prst="rect">
            <a:avLst/>
          </a:prstGeom>
          <a:noFill/>
          <a:ln/>
        </p:spPr>
        <p:txBody>
          <a:bodyPr wrap="square" lIns="0" tIns="0" rIns="0" bIns="0" rtlCol="0" anchor="ctr">
            <a:normAutofit/>
          </a:bodyPr>
          <a:lstStyle/>
          <a:p>
            <a:pPr indent="0" marL="0">
              <a:buNone/>
            </a:pPr>
            <a:r>
              <a:rPr lang="en-US" sz="1500" dirty="0">
                <a:solidFill>
                  <a:srgbClr val="F6F3EA"/>
                </a:solidFill>
              </a:rPr>
              <a:t>Database design, EER/UML modelling, 3NF mapping, SQLite implementation and SQL query demonstration</a:t>
            </a:r>
            <a:endParaRPr lang="en-US" sz="1500" dirty="0"/>
          </a:p>
        </p:txBody>
      </p:sp>
      <p:sp>
        <p:nvSpPr>
          <p:cNvPr id="6" name="Text 4"/>
          <p:cNvSpPr/>
          <p:nvPr/>
        </p:nvSpPr>
        <p:spPr>
          <a:xfrm>
            <a:off x="640080" y="5349240"/>
            <a:ext cx="5029200" cy="320040"/>
          </a:xfrm>
          <a:prstGeom prst="rect">
            <a:avLst/>
          </a:prstGeom>
          <a:noFill/>
          <a:ln/>
        </p:spPr>
        <p:txBody>
          <a:bodyPr wrap="square" lIns="0" tIns="0" rIns="0" bIns="0" rtlCol="0" anchor="ctr"/>
          <a:lstStyle/>
          <a:p>
            <a:pPr indent="0" marL="0">
              <a:buNone/>
            </a:pPr>
            <a:r>
              <a:rPr lang="en-US" sz="1400" b="1" dirty="0">
                <a:solidFill>
                  <a:srgbClr val="FFFFFF"/>
                </a:solidFill>
              </a:rPr>
              <a:t>Darwin Group 7</a:t>
            </a:r>
            <a:endParaRPr lang="en-US" sz="1400" dirty="0"/>
          </a:p>
        </p:txBody>
      </p:sp>
      <p:sp>
        <p:nvSpPr>
          <p:cNvPr id="7" name="Text 5"/>
          <p:cNvSpPr/>
          <p:nvPr/>
        </p:nvSpPr>
        <p:spPr>
          <a:xfrm>
            <a:off x="640080" y="5687568"/>
            <a:ext cx="5029200" cy="237744"/>
          </a:xfrm>
          <a:prstGeom prst="rect">
            <a:avLst/>
          </a:prstGeom>
          <a:noFill/>
          <a:ln/>
        </p:spPr>
        <p:txBody>
          <a:bodyPr wrap="square" lIns="0" tIns="0" rIns="0" bIns="0" rtlCol="0" anchor="ctr"/>
          <a:lstStyle/>
          <a:p>
            <a:pPr indent="0" marL="0">
              <a:buNone/>
            </a:pPr>
            <a:r>
              <a:rPr lang="en-US" sz="1150" dirty="0">
                <a:solidFill>
                  <a:srgbClr val="DDEFEA"/>
                </a:solidFill>
              </a:rPr>
              <a:t>Charles Darwin University</a:t>
            </a:r>
            <a:endParaRPr lang="en-US" sz="1150" dirty="0"/>
          </a:p>
        </p:txBody>
      </p:sp>
      <p:sp>
        <p:nvSpPr>
          <p:cNvPr id="8" name="Text 6"/>
          <p:cNvSpPr/>
          <p:nvPr/>
        </p:nvSpPr>
        <p:spPr>
          <a:xfrm>
            <a:off x="8229600" y="6053328"/>
            <a:ext cx="3200400" cy="210312"/>
          </a:xfrm>
          <a:prstGeom prst="rect">
            <a:avLst/>
          </a:prstGeom>
          <a:noFill/>
          <a:ln/>
        </p:spPr>
        <p:txBody>
          <a:bodyPr wrap="square" lIns="0" tIns="0" rIns="0" bIns="0" rtlCol="0" anchor="ctr"/>
          <a:lstStyle/>
          <a:p>
            <a:pPr algn="r" indent="0" marL="0">
              <a:buNone/>
            </a:pPr>
            <a:r>
              <a:rPr lang="en-US" sz="1000" dirty="0">
                <a:solidFill>
                  <a:srgbClr val="DDEFEA"/>
                </a:solidFill>
              </a:rPr>
              <a:t>Assessment 2 presentation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502920" y="256032"/>
            <a:ext cx="11155680" cy="201168"/>
          </a:xfrm>
          <a:prstGeom prst="rect">
            <a:avLst/>
          </a:prstGeom>
          <a:noFill/>
          <a:ln/>
        </p:spPr>
        <p:txBody>
          <a:bodyPr wrap="square" lIns="0" tIns="0" rIns="0" bIns="0" rtlCol="0" anchor="ctr"/>
          <a:lstStyle/>
          <a:p>
            <a:pPr indent="0" marL="0">
              <a:buNone/>
            </a:pPr>
            <a:r>
              <a:rPr lang="en-US" sz="850" b="1" dirty="0">
                <a:solidFill>
                  <a:srgbClr val="61706E"/>
                </a:solidFill>
                <a:latin typeface="Arial" pitchFamily="34" charset="0"/>
                <a:ea typeface="Arial" pitchFamily="34" charset="-122"/>
                <a:cs typeface="Arial" pitchFamily="34" charset="-120"/>
              </a:rPr>
              <a:t>OVERVIEW</a:t>
            </a:r>
            <a:endParaRPr lang="en-US" sz="850" dirty="0"/>
          </a:p>
        </p:txBody>
      </p:sp>
      <p:sp>
        <p:nvSpPr>
          <p:cNvPr id="3" name="Text 1"/>
          <p:cNvSpPr/>
          <p:nvPr/>
        </p:nvSpPr>
        <p:spPr>
          <a:xfrm>
            <a:off x="502920" y="475488"/>
            <a:ext cx="11155680" cy="438912"/>
          </a:xfrm>
          <a:prstGeom prst="rect">
            <a:avLst/>
          </a:prstGeom>
          <a:noFill/>
          <a:ln/>
        </p:spPr>
        <p:txBody>
          <a:bodyPr wrap="square" lIns="0" tIns="0" rIns="0" bIns="0" rtlCol="0" anchor="ctr">
            <a:normAutofit/>
          </a:bodyPr>
          <a:lstStyle/>
          <a:p>
            <a:pPr indent="0" marL="0">
              <a:buNone/>
            </a:pPr>
            <a:r>
              <a:rPr lang="en-US" sz="2500" b="1" dirty="0">
                <a:solidFill>
                  <a:srgbClr val="1A2B2B"/>
                </a:solidFill>
                <a:latin typeface="Arial" pitchFamily="34" charset="0"/>
                <a:ea typeface="Arial" pitchFamily="34" charset="-122"/>
                <a:cs typeface="Arial" pitchFamily="34" charset="-120"/>
              </a:rPr>
              <a:t>Business problem and scope</a:t>
            </a:r>
            <a:endParaRPr lang="en-US" sz="2500" dirty="0"/>
          </a:p>
        </p:txBody>
      </p:sp>
      <p:sp>
        <p:nvSpPr>
          <p:cNvPr id="4" name="Shape 2"/>
          <p:cNvSpPr/>
          <p:nvPr/>
        </p:nvSpPr>
        <p:spPr>
          <a:xfrm>
            <a:off x="502920" y="1005840"/>
            <a:ext cx="11155680" cy="0"/>
          </a:xfrm>
          <a:prstGeom prst="line">
            <a:avLst/>
          </a:prstGeom>
          <a:noFill/>
          <a:ln w="10160">
            <a:solidFill>
              <a:srgbClr val="B8C2BE"/>
            </a:solidFill>
            <a:prstDash val="solid"/>
          </a:ln>
        </p:spPr>
        <p:txBody>
          <a:bodyPr/>
          <a:p/>
        </p:txBody>
      </p:sp>
      <p:sp>
        <p:nvSpPr>
          <p:cNvPr id="5" name="Shape 3"/>
          <p:cNvSpPr/>
          <p:nvPr/>
        </p:nvSpPr>
        <p:spPr>
          <a:xfrm>
            <a:off x="685800" y="1380744"/>
            <a:ext cx="9144" cy="1719072"/>
          </a:xfrm>
          <a:prstGeom prst="line">
            <a:avLst/>
          </a:prstGeom>
          <a:noFill/>
          <a:ln w="38100">
            <a:solidFill>
              <a:srgbClr val="2CA58D"/>
            </a:solidFill>
            <a:prstDash val="solid"/>
          </a:ln>
        </p:spPr>
        <p:txBody>
          <a:bodyPr/>
          <a:p/>
        </p:txBody>
      </p:sp>
      <p:sp>
        <p:nvSpPr>
          <p:cNvPr id="6" name="Text 4"/>
          <p:cNvSpPr/>
          <p:nvPr/>
        </p:nvSpPr>
        <p:spPr>
          <a:xfrm>
            <a:off x="822960" y="1325880"/>
            <a:ext cx="3291840" cy="246888"/>
          </a:xfrm>
          <a:prstGeom prst="rect">
            <a:avLst/>
          </a:prstGeom>
          <a:noFill/>
          <a:ln/>
        </p:spPr>
        <p:txBody>
          <a:bodyPr wrap="square" lIns="0" tIns="0" rIns="0" bIns="0" rtlCol="0" anchor="ctr"/>
          <a:lstStyle/>
          <a:p>
            <a:pPr indent="0" marL="0">
              <a:buNone/>
            </a:pPr>
            <a:r>
              <a:rPr lang="en-US" sz="1400" b="1" dirty="0">
                <a:solidFill>
                  <a:srgbClr val="1A2B2B"/>
                </a:solidFill>
                <a:latin typeface="Arial" pitchFamily="34" charset="0"/>
                <a:ea typeface="Arial" pitchFamily="34" charset="-122"/>
                <a:cs typeface="Arial" pitchFamily="34" charset="-120"/>
              </a:rPr>
              <a:t>Problem</a:t>
            </a:r>
            <a:endParaRPr lang="en-US" sz="1400" dirty="0"/>
          </a:p>
        </p:txBody>
      </p:sp>
      <p:sp>
        <p:nvSpPr>
          <p:cNvPr id="7" name="Text 5"/>
          <p:cNvSpPr/>
          <p:nvPr/>
        </p:nvSpPr>
        <p:spPr>
          <a:xfrm>
            <a:off x="822960" y="1655064"/>
            <a:ext cx="3291840" cy="1508760"/>
          </a:xfrm>
          <a:prstGeom prst="rect">
            <a:avLst/>
          </a:prstGeom>
          <a:noFill/>
          <a:ln/>
        </p:spPr>
        <p:txBody>
          <a:bodyPr wrap="square" lIns="254" tIns="254" rIns="254" bIns="254" rtlCol="0" anchor="t">
            <a:normAutofit/>
          </a:bodyPr>
          <a:lstStyle/>
          <a:p>
            <a:pPr indent="0" marL="0">
              <a:buNone/>
            </a:pPr>
            <a:r>
              <a:rPr lang="en-US" sz="1250" dirty="0">
                <a:solidFill>
                  <a:srgbClr val="61706E"/>
                </a:solidFill>
                <a:latin typeface="Arial" pitchFamily="34" charset="0"/>
                <a:ea typeface="Arial" pitchFamily="34" charset="-122"/>
                <a:cs typeface="Arial" pitchFamily="34" charset="-120"/>
              </a:rPr>
              <a:t>A support provider needs one reliable system to manage clients, care plans, service agreements, worker bookings, delivered services, progress notes, incidents, invoices and payments.</a:t>
            </a:r>
            <a:endParaRPr lang="en-US" sz="1250" dirty="0"/>
          </a:p>
        </p:txBody>
      </p:sp>
      <p:sp>
        <p:nvSpPr>
          <p:cNvPr id="8" name="Shape 6"/>
          <p:cNvSpPr/>
          <p:nvPr/>
        </p:nvSpPr>
        <p:spPr>
          <a:xfrm>
            <a:off x="4526280" y="1380744"/>
            <a:ext cx="9144" cy="1719072"/>
          </a:xfrm>
          <a:prstGeom prst="line">
            <a:avLst/>
          </a:prstGeom>
          <a:noFill/>
          <a:ln w="38100">
            <a:solidFill>
              <a:srgbClr val="D9A441"/>
            </a:solidFill>
            <a:prstDash val="solid"/>
          </a:ln>
        </p:spPr>
        <p:txBody>
          <a:bodyPr/>
          <a:p/>
        </p:txBody>
      </p:sp>
      <p:sp>
        <p:nvSpPr>
          <p:cNvPr id="9" name="Text 7"/>
          <p:cNvSpPr/>
          <p:nvPr/>
        </p:nvSpPr>
        <p:spPr>
          <a:xfrm>
            <a:off x="4663440" y="1325880"/>
            <a:ext cx="3154680" cy="246888"/>
          </a:xfrm>
          <a:prstGeom prst="rect">
            <a:avLst/>
          </a:prstGeom>
          <a:noFill/>
          <a:ln/>
        </p:spPr>
        <p:txBody>
          <a:bodyPr wrap="square" lIns="0" tIns="0" rIns="0" bIns="0" rtlCol="0" anchor="ctr"/>
          <a:lstStyle/>
          <a:p>
            <a:pPr indent="0" marL="0">
              <a:buNone/>
            </a:pPr>
            <a:r>
              <a:rPr lang="en-US" sz="1400" b="1" dirty="0">
                <a:solidFill>
                  <a:srgbClr val="1A2B2B"/>
                </a:solidFill>
                <a:latin typeface="Arial" pitchFamily="34" charset="0"/>
                <a:ea typeface="Arial" pitchFamily="34" charset="-122"/>
                <a:cs typeface="Arial" pitchFamily="34" charset="-120"/>
              </a:rPr>
              <a:t>Core workflow</a:t>
            </a:r>
            <a:endParaRPr lang="en-US" sz="1400" dirty="0"/>
          </a:p>
        </p:txBody>
      </p:sp>
      <p:sp>
        <p:nvSpPr>
          <p:cNvPr id="10" name="Text 8"/>
          <p:cNvSpPr/>
          <p:nvPr/>
        </p:nvSpPr>
        <p:spPr>
          <a:xfrm>
            <a:off x="4663440" y="1655064"/>
            <a:ext cx="3154680" cy="1508760"/>
          </a:xfrm>
          <a:prstGeom prst="rect">
            <a:avLst/>
          </a:prstGeom>
          <a:noFill/>
          <a:ln/>
        </p:spPr>
        <p:txBody>
          <a:bodyPr wrap="square" lIns="254" tIns="254" rIns="254" bIns="254" rtlCol="0" anchor="t">
            <a:normAutofit/>
          </a:bodyPr>
          <a:lstStyle/>
          <a:p>
            <a:pPr indent="0" marL="0">
              <a:buNone/>
            </a:pPr>
            <a:r>
              <a:rPr lang="en-US" sz="1250" dirty="0">
                <a:solidFill>
                  <a:srgbClr val="61706E"/>
                </a:solidFill>
                <a:latin typeface="Arial" pitchFamily="34" charset="0"/>
                <a:ea typeface="Arial" pitchFamily="34" charset="-122"/>
                <a:cs typeface="Arial" pitchFamily="34" charset="-120"/>
              </a:rPr>
              <a:t>Client → Service Agreement / Care Plan → Service Booking → Service Delivery → Progress Notes / Incidents → Invoice → Payment</a:t>
            </a:r>
            <a:endParaRPr lang="en-US" sz="1250" dirty="0"/>
          </a:p>
        </p:txBody>
      </p:sp>
      <p:sp>
        <p:nvSpPr>
          <p:cNvPr id="11" name="Shape 9"/>
          <p:cNvSpPr/>
          <p:nvPr/>
        </p:nvSpPr>
        <p:spPr>
          <a:xfrm>
            <a:off x="8229600" y="1380744"/>
            <a:ext cx="9144" cy="1719072"/>
          </a:xfrm>
          <a:prstGeom prst="line">
            <a:avLst/>
          </a:prstGeom>
          <a:noFill/>
          <a:ln w="38100">
            <a:solidFill>
              <a:srgbClr val="2CA58D"/>
            </a:solidFill>
            <a:prstDash val="solid"/>
          </a:ln>
        </p:spPr>
        <p:txBody>
          <a:bodyPr/>
          <a:p/>
        </p:txBody>
      </p:sp>
      <p:sp>
        <p:nvSpPr>
          <p:cNvPr id="12" name="Text 10"/>
          <p:cNvSpPr/>
          <p:nvPr/>
        </p:nvSpPr>
        <p:spPr>
          <a:xfrm>
            <a:off x="8366760" y="1325880"/>
            <a:ext cx="2880360" cy="246888"/>
          </a:xfrm>
          <a:prstGeom prst="rect">
            <a:avLst/>
          </a:prstGeom>
          <a:noFill/>
          <a:ln/>
        </p:spPr>
        <p:txBody>
          <a:bodyPr wrap="square" lIns="0" tIns="0" rIns="0" bIns="0" rtlCol="0" anchor="ctr"/>
          <a:lstStyle/>
          <a:p>
            <a:pPr indent="0" marL="0">
              <a:buNone/>
            </a:pPr>
            <a:r>
              <a:rPr lang="en-US" sz="1400" b="1" dirty="0">
                <a:solidFill>
                  <a:srgbClr val="1A2B2B"/>
                </a:solidFill>
                <a:latin typeface="Arial" pitchFamily="34" charset="0"/>
                <a:ea typeface="Arial" pitchFamily="34" charset="-122"/>
                <a:cs typeface="Arial" pitchFamily="34" charset="-120"/>
              </a:rPr>
              <a:t>Design goal</a:t>
            </a:r>
            <a:endParaRPr lang="en-US" sz="1400" dirty="0"/>
          </a:p>
        </p:txBody>
      </p:sp>
      <p:sp>
        <p:nvSpPr>
          <p:cNvPr id="13" name="Text 11"/>
          <p:cNvSpPr/>
          <p:nvPr/>
        </p:nvSpPr>
        <p:spPr>
          <a:xfrm>
            <a:off x="8366760" y="1655064"/>
            <a:ext cx="2880360" cy="1508760"/>
          </a:xfrm>
          <a:prstGeom prst="rect">
            <a:avLst/>
          </a:prstGeom>
          <a:noFill/>
          <a:ln/>
        </p:spPr>
        <p:txBody>
          <a:bodyPr wrap="square" lIns="254" tIns="254" rIns="254" bIns="254" rtlCol="0" anchor="t">
            <a:normAutofit/>
          </a:bodyPr>
          <a:lstStyle/>
          <a:p>
            <a:pPr indent="0" marL="0">
              <a:buNone/>
            </a:pPr>
            <a:r>
              <a:rPr lang="en-US" sz="1250" dirty="0">
                <a:solidFill>
                  <a:srgbClr val="61706E"/>
                </a:solidFill>
                <a:latin typeface="Arial" pitchFamily="34" charset="0"/>
                <a:ea typeface="Arial" pitchFamily="34" charset="-122"/>
                <a:cs typeface="Arial" pitchFamily="34" charset="-120"/>
              </a:rPr>
              <a:t>Create a normalized database that reduces duplicated data, enforces referential integrity, and supports clear reporting through SQL queries.</a:t>
            </a:r>
            <a:endParaRPr lang="en-US" sz="1250" dirty="0"/>
          </a:p>
        </p:txBody>
      </p:sp>
      <p:sp>
        <p:nvSpPr>
          <p:cNvPr id="14" name="Text 12"/>
          <p:cNvSpPr/>
          <p:nvPr/>
        </p:nvSpPr>
        <p:spPr>
          <a:xfrm>
            <a:off x="685800" y="3886200"/>
            <a:ext cx="10789920" cy="274320"/>
          </a:xfrm>
          <a:prstGeom prst="rect">
            <a:avLst/>
          </a:prstGeom>
          <a:noFill/>
          <a:ln/>
        </p:spPr>
        <p:txBody>
          <a:bodyPr wrap="square" lIns="0" tIns="0" rIns="0" bIns="0" rtlCol="0" anchor="ctr"/>
          <a:lstStyle/>
          <a:p>
            <a:pPr indent="0" marL="0">
              <a:buNone/>
            </a:pPr>
            <a:r>
              <a:rPr lang="en-US" sz="1500" b="1" dirty="0">
                <a:solidFill>
                  <a:srgbClr val="1A2B2B"/>
                </a:solidFill>
              </a:rPr>
              <a:t>System boundary</a:t>
            </a:r>
            <a:endParaRPr lang="en-US" sz="1500" dirty="0"/>
          </a:p>
        </p:txBody>
      </p:sp>
      <p:sp>
        <p:nvSpPr>
          <p:cNvPr id="15" name="Text 13"/>
          <p:cNvSpPr/>
          <p:nvPr/>
        </p:nvSpPr>
        <p:spPr>
          <a:xfrm>
            <a:off x="685800" y="4279392"/>
            <a:ext cx="10789920" cy="502920"/>
          </a:xfrm>
          <a:prstGeom prst="rect">
            <a:avLst/>
          </a:prstGeom>
          <a:noFill/>
          <a:ln/>
        </p:spPr>
        <p:txBody>
          <a:bodyPr wrap="square" lIns="0" tIns="0" rIns="0" bIns="0" rtlCol="0" anchor="ctr">
            <a:normAutofit/>
          </a:bodyPr>
          <a:lstStyle/>
          <a:p>
            <a:pPr indent="0" marL="0">
              <a:buNone/>
            </a:pPr>
            <a:r>
              <a:rPr lang="en-US" sz="1500" dirty="0">
                <a:solidFill>
                  <a:srgbClr val="61706E"/>
                </a:solidFill>
              </a:rPr>
              <a:t>The model focuses on operational service management rather than payroll, rostering awards, clinical diagnosis, or external government claim processing.</a:t>
            </a:r>
            <a:endParaRPr lang="en-US" sz="1500" dirty="0"/>
          </a:p>
        </p:txBody>
      </p:sp>
      <p:sp>
        <p:nvSpPr>
          <p:cNvPr id="16" name="Text 14"/>
          <p:cNvSpPr/>
          <p:nvPr/>
        </p:nvSpPr>
        <p:spPr>
          <a:xfrm>
            <a:off x="685800" y="5257800"/>
            <a:ext cx="1828800" cy="228600"/>
          </a:xfrm>
          <a:prstGeom prst="rect">
            <a:avLst/>
          </a:prstGeom>
          <a:noFill/>
          <a:ln/>
        </p:spPr>
        <p:txBody>
          <a:bodyPr wrap="square" lIns="0" tIns="0" rIns="0" bIns="0" rtlCol="0" anchor="ctr"/>
          <a:lstStyle/>
          <a:p>
            <a:pPr indent="0" marL="0">
              <a:buNone/>
            </a:pPr>
            <a:r>
              <a:rPr lang="en-US" sz="1200" b="1" dirty="0">
                <a:solidFill>
                  <a:srgbClr val="0F3D3E"/>
                </a:solidFill>
              </a:rPr>
              <a:t>Key data flow</a:t>
            </a:r>
            <a:endParaRPr lang="en-US" sz="1200" dirty="0"/>
          </a:p>
        </p:txBody>
      </p:sp>
      <p:sp>
        <p:nvSpPr>
          <p:cNvPr id="17" name="Text 15"/>
          <p:cNvSpPr/>
          <p:nvPr/>
        </p:nvSpPr>
        <p:spPr>
          <a:xfrm>
            <a:off x="685800" y="5577840"/>
            <a:ext cx="10972800" cy="347472"/>
          </a:xfrm>
          <a:prstGeom prst="rect">
            <a:avLst/>
          </a:prstGeom>
          <a:noFill/>
          <a:ln/>
        </p:spPr>
        <p:txBody>
          <a:bodyPr wrap="square" lIns="0" tIns="0" rIns="0" bIns="0" rtlCol="0" anchor="ctr">
            <a:normAutofit/>
          </a:bodyPr>
          <a:lstStyle/>
          <a:p>
            <a:pPr indent="0" marL="0">
              <a:buNone/>
            </a:pPr>
            <a:r>
              <a:rPr lang="en-US" sz="2000" b="1" dirty="0">
                <a:solidFill>
                  <a:srgbClr val="0F3D3E"/>
                </a:solidFill>
              </a:rPr>
              <a:t>CLIENT  →  AGREEMENT  →  BOOKING  →  DELIVERY  →  INVOICE LINE  →  PAYMENT</a:t>
            </a:r>
            <a:endParaRPr lang="en-US" sz="2000" dirty="0"/>
          </a:p>
        </p:txBody>
      </p:sp>
      <p:sp>
        <p:nvSpPr>
          <p:cNvPr id="18" name="Text 16"/>
          <p:cNvSpPr/>
          <p:nvPr/>
        </p:nvSpPr>
        <p:spPr>
          <a:xfrm>
            <a:off x="502920" y="6537960"/>
            <a:ext cx="11155680" cy="146304"/>
          </a:xfrm>
          <a:prstGeom prst="rect">
            <a:avLst/>
          </a:prstGeom>
          <a:noFill/>
          <a:ln/>
        </p:spPr>
        <p:txBody>
          <a:bodyPr wrap="square" lIns="0" tIns="0" rIns="0" bIns="0" rtlCol="0" anchor="ctr"/>
          <a:lstStyle/>
          <a:p>
            <a:pPr indent="0" marL="0">
              <a:buNone/>
            </a:pPr>
            <a:r>
              <a:rPr lang="en-US" sz="750" dirty="0">
                <a:solidFill>
                  <a:srgbClr val="61706E"/>
                </a:solidFill>
                <a:latin typeface="Arial" pitchFamily="34" charset="0"/>
                <a:ea typeface="Arial" pitchFamily="34" charset="-122"/>
                <a:cs typeface="Arial" pitchFamily="34" charset="-120"/>
              </a:rPr>
              <a:t>PRT563 Advanced Data Management  ·  Darwin Group 7  ·  2</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1"/>
        </a:solidFill>
      </p:bgPr>
    </p:bg>
    <p:spTree>
      <p:nvGrpSpPr>
        <p:cNvPr id="1" name=""/>
        <p:cNvGrpSpPr/>
        <p:nvPr/>
      </p:nvGrpSpPr>
      <p:grpSpPr>
        <a:xfrm>
          <a:off x="0" y="0"/>
          <a:ext cx="0" cy="0"/>
          <a:chOff x="0" y="0"/>
          <a:chExt cx="0" cy="0"/>
        </a:xfrm>
      </p:grpSpPr>
      <p:sp>
        <p:nvSpPr>
          <p:cNvPr id="11" name="Text 12"/>
          <p:cNvSpPr/>
          <p:nvPr/>
        </p:nvSpPr>
        <p:spPr>
          <a:xfrm>
            <a:off x="502920" y="256032"/>
            <a:ext cx="11155680" cy="201168"/>
          </a:xfrm>
          <a:prstGeom prst="rect">
            <a:avLst/>
          </a:prstGeom>
          <a:noFill/>
          <a:ln/>
        </p:spPr>
        <p:txBody>
          <a:bodyPr wrap="square" lIns="0" tIns="0" rIns="0" bIns="0" rtlCol="0" anchor="ctr">
            <a:normAutofit/>
          </a:bodyPr>
          <a:lstStyle/>
          <a:p>
            <a:pPr indent="0" marL="0">
              <a:buNone/>
            </a:pPr>
            <a:r>
              <a:rPr lang="en-US" sz="850" b="1" dirty="0">
                <a:solidFill>
                  <a:srgbClr val="61706E"/>
                </a:solidFill>
                <a:latin typeface="Arial" pitchFamily="34" charset="0"/>
                <a:ea typeface="Arial" pitchFamily="34" charset="-122"/>
                <a:cs typeface="Arial" pitchFamily="34" charset="-120"/>
              </a:rPr>
              <a:t>TEAM</a:t>
            </a:r>
            <a:endParaRPr lang="en-US" sz="850" dirty="0"/>
          </a:p>
        </p:txBody>
      </p:sp>
      <p:sp>
        <p:nvSpPr>
          <p:cNvPr id="13" name="Text 14"/>
          <p:cNvSpPr/>
          <p:nvPr/>
        </p:nvSpPr>
        <p:spPr>
          <a:xfrm>
            <a:off x="502920" y="475488"/>
            <a:ext cx="11155680" cy="438912"/>
          </a:xfrm>
          <a:prstGeom prst="rect">
            <a:avLst/>
          </a:prstGeom>
          <a:noFill/>
          <a:ln/>
        </p:spPr>
        <p:txBody>
          <a:bodyPr wrap="square" lIns="0" tIns="0" rIns="0" bIns="0" rtlCol="0" anchor="ctr">
            <a:normAutofit/>
          </a:bodyPr>
          <a:lstStyle/>
          <a:p>
            <a:pPr indent="0" marL="0">
              <a:buNone/>
            </a:pPr>
            <a:r>
              <a:rPr lang="en-US" sz="2500" b="1" dirty="0">
                <a:solidFill>
                  <a:srgbClr val="1A2B2B"/>
                </a:solidFill>
                <a:latin typeface="Arial" pitchFamily="34" charset="0"/>
                <a:ea typeface="Arial" pitchFamily="34" charset="-122"/>
                <a:cs typeface="Arial" pitchFamily="34" charset="-120"/>
              </a:rPr>
              <a:t>Team contributions</a:t>
            </a:r>
            <a:endParaRPr lang="en-US" sz="2500" dirty="0"/>
          </a:p>
        </p:txBody>
      </p:sp>
      <p:sp>
        <p:nvSpPr>
          <p:cNvPr id="15" name="Rule 16"/>
          <p:cNvSpPr/>
          <p:nvPr/>
        </p:nvSpPr>
        <p:spPr>
          <a:xfrm>
            <a:off x="502920" y="1005840"/>
            <a:ext cx="11155680" cy="0"/>
          </a:xfrm>
          <a:prstGeom prst="line">
            <a:avLst/>
          </a:prstGeom>
          <a:noFill/>
          <a:ln w="10160">
            <a:solidFill>
              <a:srgbClr val="B8C2BE"/>
            </a:solidFill>
            <a:prstDash val="solid"/>
          </a:ln>
        </p:spPr>
        <p:txBody>
          <a:bodyPr/>
          <a:p/>
        </p:txBody>
      </p:sp>
      <p:sp>
        <p:nvSpPr>
          <p:cNvPr id="17" name="Text 18"/>
          <p:cNvSpPr/>
          <p:nvPr/>
        </p:nvSpPr>
        <p:spPr>
          <a:xfrm>
            <a:off x="502920" y="1500000"/>
            <a:ext cx="3300000" cy="260000"/>
          </a:xfrm>
          <a:prstGeom prst="rect">
            <a:avLst/>
          </a:prstGeom>
          <a:noFill/>
          <a:ln/>
        </p:spPr>
        <p:txBody>
          <a:bodyPr wrap="square" lIns="0" tIns="0" rIns="0" bIns="0" rtlCol="0" anchor="t">
            <a:normAutofit/>
          </a:bodyPr>
          <a:lstStyle/>
          <a:p>
            <a:pPr indent="0" marL="0">
              <a:buNone/>
            </a:pPr>
            <a:r>
              <a:rPr lang="en-US" sz="1000" b="1" dirty="0">
                <a:solidFill>
                  <a:srgbClr val="61706E"/>
                </a:solidFill>
                <a:latin typeface="Arial" pitchFamily="34" charset="0"/>
                <a:ea typeface="Arial" pitchFamily="34" charset="-122"/>
                <a:cs typeface="Arial" pitchFamily="34" charset="-120"/>
              </a:rPr>
              <a:t>MEMBER</a:t>
            </a:r>
            <a:endParaRPr lang="en-US" sz="1000" dirty="0"/>
          </a:p>
        </p:txBody>
      </p:sp>
      <p:sp>
        <p:nvSpPr>
          <p:cNvPr id="19" name="Text 20"/>
          <p:cNvSpPr/>
          <p:nvPr/>
        </p:nvSpPr>
        <p:spPr>
          <a:xfrm>
            <a:off x="4050000" y="1500000"/>
            <a:ext cx="7608600" cy="260000"/>
          </a:xfrm>
          <a:prstGeom prst="rect">
            <a:avLst/>
          </a:prstGeom>
          <a:noFill/>
          <a:ln/>
        </p:spPr>
        <p:txBody>
          <a:bodyPr wrap="square" lIns="0" tIns="0" rIns="0" bIns="0" rtlCol="0" anchor="t">
            <a:normAutofit/>
          </a:bodyPr>
          <a:lstStyle/>
          <a:p>
            <a:pPr indent="0" marL="0">
              <a:buNone/>
            </a:pPr>
            <a:r>
              <a:rPr lang="en-US" sz="1000" b="1" dirty="0">
                <a:solidFill>
                  <a:srgbClr val="61706E"/>
                </a:solidFill>
                <a:latin typeface="Arial" pitchFamily="34" charset="0"/>
                <a:ea typeface="Arial" pitchFamily="34" charset="-122"/>
                <a:cs typeface="Arial" pitchFamily="34" charset="-120"/>
              </a:rPr>
              <a:t>PRIMARY CONTRIBUTION</a:t>
            </a:r>
            <a:endParaRPr lang="en-US" sz="1000" dirty="0"/>
          </a:p>
        </p:txBody>
      </p:sp>
      <p:sp>
        <p:nvSpPr>
          <p:cNvPr id="21" name="Rule 22"/>
          <p:cNvSpPr/>
          <p:nvPr/>
        </p:nvSpPr>
        <p:spPr>
          <a:xfrm>
            <a:off x="502920" y="1870000"/>
            <a:ext cx="11155680" cy="0"/>
          </a:xfrm>
          <a:prstGeom prst="line">
            <a:avLst/>
          </a:prstGeom>
          <a:noFill/>
          <a:ln w="9525">
            <a:solidFill>
              <a:srgbClr val="2CA58D"/>
            </a:solidFill>
            <a:prstDash val="solid"/>
          </a:ln>
        </p:spPr>
        <p:txBody>
          <a:bodyPr/>
          <a:p/>
        </p:txBody>
      </p:sp>
      <p:sp>
        <p:nvSpPr>
          <p:cNvPr id="23" name="Text 24"/>
          <p:cNvSpPr/>
          <p:nvPr/>
        </p:nvSpPr>
        <p:spPr>
          <a:xfrm>
            <a:off x="502920" y="2020000"/>
            <a:ext cx="3300000" cy="560000"/>
          </a:xfrm>
          <a:prstGeom prst="rect">
            <a:avLst/>
          </a:prstGeom>
          <a:noFill/>
          <a:ln/>
        </p:spPr>
        <p:txBody>
          <a:bodyPr wrap="square" lIns="0" tIns="0" rIns="0" bIns="0" rtlCol="0" anchor="t">
            <a:normAutofit/>
          </a:bodyPr>
          <a:lstStyle/>
          <a:p>
            <a:pPr indent="0" marL="0">
              <a:buNone/>
            </a:pPr>
            <a:r>
              <a:rPr lang="en-US" sz="1300" b="1" dirty="0">
                <a:solidFill>
                  <a:srgbClr val="1A2B2B"/>
                </a:solidFill>
                <a:latin typeface="Arial" pitchFamily="34" charset="0"/>
                <a:ea typeface="Arial" pitchFamily="34" charset="-122"/>
                <a:cs typeface="Arial" pitchFamily="34" charset="-120"/>
              </a:rPr>
              <a:t>Ayush Bhusal</a:t>
            </a:r>
            <a:endParaRPr lang="en-US" sz="1300" dirty="0"/>
          </a:p>
        </p:txBody>
      </p:sp>
      <p:sp>
        <p:nvSpPr>
          <p:cNvPr id="25" name="Text 26"/>
          <p:cNvSpPr/>
          <p:nvPr/>
        </p:nvSpPr>
        <p:spPr>
          <a:xfrm>
            <a:off x="4050000" y="2020000"/>
            <a:ext cx="7608600" cy="560000"/>
          </a:xfrm>
          <a:prstGeom prst="rect">
            <a:avLst/>
          </a:prstGeom>
          <a:noFill/>
          <a:ln/>
        </p:spPr>
        <p:txBody>
          <a:bodyPr wrap="square" lIns="0" tIns="0" rIns="0" bIns="0" rtlCol="0" anchor="t">
            <a:normAutofit/>
          </a:bodyPr>
          <a:lstStyle/>
          <a:p>
            <a:pPr indent="0" marL="0">
              <a:buNone/>
            </a:pPr>
            <a:r>
              <a:rPr lang="en-US" sz="1250" dirty="0">
                <a:solidFill>
                  <a:srgbClr val="61706E"/>
                </a:solidFill>
                <a:latin typeface="Arial" pitchFamily="34" charset="0"/>
                <a:ea typeface="Arial" pitchFamily="34" charset="-122"/>
                <a:cs typeface="Arial" pitchFamily="34" charset="-120"/>
              </a:rPr>
              <a:t>Requirements gathering, business problem and project scope</a:t>
            </a:r>
            <a:endParaRPr lang="en-US" sz="1250" dirty="0"/>
          </a:p>
        </p:txBody>
      </p:sp>
      <p:sp>
        <p:nvSpPr>
          <p:cNvPr id="27" name="Rule 28"/>
          <p:cNvSpPr/>
          <p:nvPr/>
        </p:nvSpPr>
        <p:spPr>
          <a:xfrm>
            <a:off x="502920" y="2650000"/>
            <a:ext cx="11155680" cy="0"/>
          </a:xfrm>
          <a:prstGeom prst="line">
            <a:avLst/>
          </a:prstGeom>
          <a:noFill/>
          <a:ln w="6350">
            <a:solidFill>
              <a:srgbClr val="D8DDD8"/>
            </a:solidFill>
            <a:prstDash val="solid"/>
          </a:ln>
        </p:spPr>
        <p:txBody>
          <a:bodyPr/>
          <a:p/>
        </p:txBody>
      </p:sp>
      <p:sp>
        <p:nvSpPr>
          <p:cNvPr id="29" name="Text 30"/>
          <p:cNvSpPr/>
          <p:nvPr/>
        </p:nvSpPr>
        <p:spPr>
          <a:xfrm>
            <a:off x="502920" y="2720000"/>
            <a:ext cx="3300000" cy="560000"/>
          </a:xfrm>
          <a:prstGeom prst="rect">
            <a:avLst/>
          </a:prstGeom>
          <a:noFill/>
          <a:ln/>
        </p:spPr>
        <p:txBody>
          <a:bodyPr wrap="square" lIns="0" tIns="0" rIns="0" bIns="0" rtlCol="0" anchor="t">
            <a:normAutofit/>
          </a:bodyPr>
          <a:lstStyle/>
          <a:p>
            <a:pPr indent="0" marL="0">
              <a:buNone/>
            </a:pPr>
            <a:r>
              <a:rPr lang="en-US" sz="1300" b="1" dirty="0">
                <a:solidFill>
                  <a:srgbClr val="1A2B2B"/>
                </a:solidFill>
                <a:latin typeface="Arial" pitchFamily="34" charset="0"/>
                <a:ea typeface="Arial" pitchFamily="34" charset="-122"/>
                <a:cs typeface="Arial" pitchFamily="34" charset="-120"/>
              </a:rPr>
              <a:t>Hemraj Budhathoki</a:t>
            </a:r>
            <a:endParaRPr lang="en-US" sz="1300" dirty="0"/>
          </a:p>
        </p:txBody>
      </p:sp>
      <p:sp>
        <p:nvSpPr>
          <p:cNvPr id="31" name="Text 32"/>
          <p:cNvSpPr/>
          <p:nvPr/>
        </p:nvSpPr>
        <p:spPr>
          <a:xfrm>
            <a:off x="4050000" y="2720000"/>
            <a:ext cx="7608600" cy="560000"/>
          </a:xfrm>
          <a:prstGeom prst="rect">
            <a:avLst/>
          </a:prstGeom>
          <a:noFill/>
          <a:ln/>
        </p:spPr>
        <p:txBody>
          <a:bodyPr wrap="square" lIns="0" tIns="0" rIns="0" bIns="0" rtlCol="0" anchor="t">
            <a:normAutofit/>
          </a:bodyPr>
          <a:lstStyle/>
          <a:p>
            <a:pPr indent="0" marL="0">
              <a:buNone/>
            </a:pPr>
            <a:r>
              <a:rPr lang="en-US" sz="1250" dirty="0">
                <a:solidFill>
                  <a:srgbClr val="61706E"/>
                </a:solidFill>
                <a:latin typeface="Arial" pitchFamily="34" charset="0"/>
                <a:ea typeface="Arial" pitchFamily="34" charset="-122"/>
                <a:cs typeface="Arial" pitchFamily="34" charset="-120"/>
              </a:rPr>
              <a:t>Conceptual modelling — EER and UML class diagrams</a:t>
            </a:r>
            <a:endParaRPr lang="en-US" sz="1250" dirty="0"/>
          </a:p>
        </p:txBody>
      </p:sp>
      <p:sp>
        <p:nvSpPr>
          <p:cNvPr id="33" name="Rule 34"/>
          <p:cNvSpPr/>
          <p:nvPr/>
        </p:nvSpPr>
        <p:spPr>
          <a:xfrm>
            <a:off x="502920" y="3350000"/>
            <a:ext cx="11155680" cy="0"/>
          </a:xfrm>
          <a:prstGeom prst="line">
            <a:avLst/>
          </a:prstGeom>
          <a:noFill/>
          <a:ln w="6350">
            <a:solidFill>
              <a:srgbClr val="D8DDD8"/>
            </a:solidFill>
            <a:prstDash val="solid"/>
          </a:ln>
        </p:spPr>
        <p:txBody>
          <a:bodyPr/>
          <a:p/>
        </p:txBody>
      </p:sp>
      <p:sp>
        <p:nvSpPr>
          <p:cNvPr id="35" name="Text 36"/>
          <p:cNvSpPr/>
          <p:nvPr/>
        </p:nvSpPr>
        <p:spPr>
          <a:xfrm>
            <a:off x="502920" y="3420000"/>
            <a:ext cx="3300000" cy="560000"/>
          </a:xfrm>
          <a:prstGeom prst="rect">
            <a:avLst/>
          </a:prstGeom>
          <a:noFill/>
          <a:ln/>
        </p:spPr>
        <p:txBody>
          <a:bodyPr wrap="square" lIns="0" tIns="0" rIns="0" bIns="0" rtlCol="0" anchor="t">
            <a:normAutofit/>
          </a:bodyPr>
          <a:lstStyle/>
          <a:p>
            <a:pPr indent="0" marL="0">
              <a:buNone/>
            </a:pPr>
            <a:r>
              <a:rPr lang="en-US" sz="1300" b="1" dirty="0">
                <a:solidFill>
                  <a:srgbClr val="1A2B2B"/>
                </a:solidFill>
                <a:latin typeface="Arial" pitchFamily="34" charset="0"/>
                <a:ea typeface="Arial" pitchFamily="34" charset="-122"/>
                <a:cs typeface="Arial" pitchFamily="34" charset="-120"/>
              </a:rPr>
              <a:t>Sangam GC</a:t>
            </a:r>
            <a:endParaRPr lang="en-US" sz="1300" dirty="0"/>
          </a:p>
        </p:txBody>
      </p:sp>
      <p:sp>
        <p:nvSpPr>
          <p:cNvPr id="37" name="Text 38"/>
          <p:cNvSpPr/>
          <p:nvPr/>
        </p:nvSpPr>
        <p:spPr>
          <a:xfrm>
            <a:off x="4050000" y="3420000"/>
            <a:ext cx="7608600" cy="560000"/>
          </a:xfrm>
          <a:prstGeom prst="rect">
            <a:avLst/>
          </a:prstGeom>
          <a:noFill/>
          <a:ln/>
        </p:spPr>
        <p:txBody>
          <a:bodyPr wrap="square" lIns="0" tIns="0" rIns="0" bIns="0" rtlCol="0" anchor="t">
            <a:normAutofit/>
          </a:bodyPr>
          <a:lstStyle/>
          <a:p>
            <a:pPr indent="0" marL="0">
              <a:buNone/>
            </a:pPr>
            <a:r>
              <a:rPr lang="en-US" sz="1250" dirty="0">
                <a:solidFill>
                  <a:srgbClr val="61706E"/>
                </a:solidFill>
                <a:latin typeface="Arial" pitchFamily="34" charset="0"/>
                <a:ea typeface="Arial" pitchFamily="34" charset="-122"/>
                <a:cs typeface="Arial" pitchFamily="34" charset="-120"/>
              </a:rPr>
              <a:t>EER-to-relational mapping and SQLite implementation</a:t>
            </a:r>
            <a:endParaRPr lang="en-US" sz="1250" dirty="0"/>
          </a:p>
        </p:txBody>
      </p:sp>
      <p:sp>
        <p:nvSpPr>
          <p:cNvPr id="39" name="Rule 40"/>
          <p:cNvSpPr/>
          <p:nvPr/>
        </p:nvSpPr>
        <p:spPr>
          <a:xfrm>
            <a:off x="502920" y="4050000"/>
            <a:ext cx="11155680" cy="0"/>
          </a:xfrm>
          <a:prstGeom prst="line">
            <a:avLst/>
          </a:prstGeom>
          <a:noFill/>
          <a:ln w="6350">
            <a:solidFill>
              <a:srgbClr val="D8DDD8"/>
            </a:solidFill>
            <a:prstDash val="solid"/>
          </a:ln>
        </p:spPr>
        <p:txBody>
          <a:bodyPr/>
          <a:p/>
        </p:txBody>
      </p:sp>
      <p:sp>
        <p:nvSpPr>
          <p:cNvPr id="41" name="Text 42"/>
          <p:cNvSpPr/>
          <p:nvPr/>
        </p:nvSpPr>
        <p:spPr>
          <a:xfrm>
            <a:off x="502920" y="4120000"/>
            <a:ext cx="3300000" cy="560000"/>
          </a:xfrm>
          <a:prstGeom prst="rect">
            <a:avLst/>
          </a:prstGeom>
          <a:noFill/>
          <a:ln/>
        </p:spPr>
        <p:txBody>
          <a:bodyPr wrap="square" lIns="0" tIns="0" rIns="0" bIns="0" rtlCol="0" anchor="t">
            <a:normAutofit/>
          </a:bodyPr>
          <a:lstStyle/>
          <a:p>
            <a:pPr indent="0" marL="0">
              <a:buNone/>
            </a:pPr>
            <a:r>
              <a:rPr lang="en-US" sz="1300" b="1" dirty="0">
                <a:solidFill>
                  <a:srgbClr val="1A2B2B"/>
                </a:solidFill>
                <a:latin typeface="Arial" pitchFamily="34" charset="0"/>
                <a:ea typeface="Arial" pitchFamily="34" charset="-122"/>
                <a:cs typeface="Arial" pitchFamily="34" charset="-120"/>
              </a:rPr>
              <a:t>Sujan Gautam</a:t>
            </a:r>
            <a:endParaRPr lang="en-US" sz="1300" dirty="0"/>
          </a:p>
        </p:txBody>
      </p:sp>
      <p:sp>
        <p:nvSpPr>
          <p:cNvPr id="43" name="Text 44"/>
          <p:cNvSpPr/>
          <p:nvPr/>
        </p:nvSpPr>
        <p:spPr>
          <a:xfrm>
            <a:off x="4050000" y="4120000"/>
            <a:ext cx="7608600" cy="560000"/>
          </a:xfrm>
          <a:prstGeom prst="rect">
            <a:avLst/>
          </a:prstGeom>
          <a:noFill/>
          <a:ln/>
        </p:spPr>
        <p:txBody>
          <a:bodyPr wrap="square" lIns="0" tIns="0" rIns="0" bIns="0" rtlCol="0" anchor="t">
            <a:normAutofit/>
          </a:bodyPr>
          <a:lstStyle/>
          <a:p>
            <a:pPr indent="0" marL="0">
              <a:buNone/>
            </a:pPr>
            <a:r>
              <a:rPr lang="en-US" sz="1250" dirty="0">
                <a:solidFill>
                  <a:srgbClr val="61706E"/>
                </a:solidFill>
                <a:latin typeface="Arial" pitchFamily="34" charset="0"/>
                <a:ea typeface="Arial" pitchFamily="34" charset="-122"/>
                <a:cs typeface="Arial" pitchFamily="34" charset="-120"/>
              </a:rPr>
              <a:t>SQL query design, testing, limitations and conclusion</a:t>
            </a:r>
            <a:endParaRPr lang="en-US" sz="1250" dirty="0"/>
          </a:p>
        </p:txBody>
      </p:sp>
      <p:sp>
        <p:nvSpPr>
          <p:cNvPr id="45" name="Rule 46"/>
          <p:cNvSpPr/>
          <p:nvPr/>
        </p:nvSpPr>
        <p:spPr>
          <a:xfrm>
            <a:off x="502920" y="4750000"/>
            <a:ext cx="11155680" cy="0"/>
          </a:xfrm>
          <a:prstGeom prst="line">
            <a:avLst/>
          </a:prstGeom>
          <a:noFill/>
          <a:ln w="6350">
            <a:solidFill>
              <a:srgbClr val="D8DDD8"/>
            </a:solidFill>
            <a:prstDash val="solid"/>
          </a:ln>
        </p:spPr>
        <p:txBody>
          <a:bodyPr/>
          <a:p/>
        </p:txBody>
      </p:sp>
      <p:sp>
        <p:nvSpPr>
          <p:cNvPr id="47" name="Text 48"/>
          <p:cNvSpPr/>
          <p:nvPr/>
        </p:nvSpPr>
        <p:spPr>
          <a:xfrm>
            <a:off x="502920" y="4940000"/>
            <a:ext cx="11155680" cy="260000"/>
          </a:xfrm>
          <a:prstGeom prst="rect">
            <a:avLst/>
          </a:prstGeom>
          <a:noFill/>
          <a:ln/>
        </p:spPr>
        <p:txBody>
          <a:bodyPr wrap="square" lIns="0" tIns="0" rIns="0" bIns="0" rtlCol="0" anchor="t">
            <a:normAutofit/>
          </a:bodyPr>
          <a:lstStyle/>
          <a:p>
            <a:pPr indent="0" marL="0">
              <a:buNone/>
            </a:pPr>
            <a:r>
              <a:rPr lang="en-US" sz="1000" b="1" dirty="0">
                <a:solidFill>
                  <a:srgbClr val="61706E"/>
                </a:solidFill>
                <a:latin typeface="Arial" pitchFamily="34" charset="0"/>
                <a:ea typeface="Arial" pitchFamily="34" charset="-122"/>
                <a:cs typeface="Arial" pitchFamily="34" charset="-120"/>
              </a:rPr>
              <a:t>COORDINATION</a:t>
            </a:r>
            <a:endParaRPr lang="en-US" sz="1000" dirty="0"/>
          </a:p>
        </p:txBody>
      </p:sp>
      <p:sp>
        <p:nvSpPr>
          <p:cNvPr id="49" name="Text 50"/>
          <p:cNvSpPr/>
          <p:nvPr/>
        </p:nvSpPr>
        <p:spPr>
          <a:xfrm>
            <a:off x="502920" y="5270000"/>
            <a:ext cx="11155680" cy="520000"/>
          </a:xfrm>
          <a:prstGeom prst="rect">
            <a:avLst/>
          </a:prstGeom>
          <a:noFill/>
          <a:ln/>
        </p:spPr>
        <p:txBody>
          <a:bodyPr wrap="square" lIns="0" tIns="0" rIns="0" bIns="0" rtlCol="0" anchor="t">
            <a:normAutofit/>
          </a:bodyPr>
          <a:lstStyle/>
          <a:p>
            <a:pPr indent="0" marL="0">
              <a:buNone/>
            </a:pPr>
            <a:r>
              <a:rPr lang="en-US" sz="1250" dirty="0">
                <a:solidFill>
                  <a:srgbClr val="61706E"/>
                </a:solidFill>
                <a:latin typeface="Arial" pitchFamily="34" charset="0"/>
                <a:ea typeface="Arial" pitchFamily="34" charset="-122"/>
                <a:cs typeface="Arial" pitchFamily="34" charset="-120"/>
              </a:rPr>
              <a:t>The team coordinated through WhatsApp for task allocation, design feedback, database testing and progress tracking.</a:t>
            </a:r>
            <a:endParaRPr lang="en-US" sz="1250" dirty="0"/>
          </a:p>
        </p:txBody>
      </p:sp>
      <p:sp>
        <p:nvSpPr>
          <p:cNvPr id="51" name="Text 52"/>
          <p:cNvSpPr/>
          <p:nvPr/>
        </p:nvSpPr>
        <p:spPr>
          <a:xfrm>
            <a:off x="502920" y="6500000"/>
            <a:ext cx="11155680" cy="220000"/>
          </a:xfrm>
          <a:prstGeom prst="rect">
            <a:avLst/>
          </a:prstGeom>
          <a:noFill/>
          <a:ln/>
        </p:spPr>
        <p:txBody>
          <a:bodyPr wrap="square" lIns="0" tIns="0" rIns="0" bIns="0" rtlCol="0" anchor="t">
            <a:normAutofit/>
          </a:bodyPr>
          <a:lstStyle/>
          <a:p>
            <a:pPr indent="0" marL="0">
              <a:buNone/>
            </a:pPr>
            <a:r>
              <a:rPr lang="en-US" sz="850" dirty="0">
                <a:solidFill>
                  <a:srgbClr val="9AA6A2"/>
                </a:solidFill>
                <a:latin typeface="Arial" pitchFamily="34" charset="0"/>
                <a:ea typeface="Arial" pitchFamily="34" charset="-122"/>
                <a:cs typeface="Arial" pitchFamily="34" charset="-120"/>
              </a:rPr>
              <a:t>PRT563 Advanced Data Management  ·  Darwin Group 7  ·  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502920" y="256032"/>
            <a:ext cx="11155680" cy="201168"/>
          </a:xfrm>
          <a:prstGeom prst="rect">
            <a:avLst/>
          </a:prstGeom>
          <a:noFill/>
          <a:ln/>
        </p:spPr>
        <p:txBody>
          <a:bodyPr wrap="square" lIns="0" tIns="0" rIns="0" bIns="0" rtlCol="0" anchor="ctr"/>
          <a:lstStyle/>
          <a:p>
            <a:pPr indent="0" marL="0">
              <a:buNone/>
            </a:pPr>
            <a:r>
              <a:rPr lang="en-US" sz="850" b="1" dirty="0">
                <a:solidFill>
                  <a:srgbClr val="61706E"/>
                </a:solidFill>
                <a:latin typeface="Arial" pitchFamily="34" charset="0"/>
                <a:ea typeface="Arial" pitchFamily="34" charset="-122"/>
                <a:cs typeface="Arial" pitchFamily="34" charset="-120"/>
              </a:rPr>
              <a:t>MODEL DESIGN</a:t>
            </a:r>
            <a:endParaRPr lang="en-US" sz="850" dirty="0"/>
          </a:p>
        </p:txBody>
      </p:sp>
      <p:sp>
        <p:nvSpPr>
          <p:cNvPr id="3" name="Text 1"/>
          <p:cNvSpPr/>
          <p:nvPr/>
        </p:nvSpPr>
        <p:spPr>
          <a:xfrm>
            <a:off x="502920" y="475488"/>
            <a:ext cx="11155680" cy="438912"/>
          </a:xfrm>
          <a:prstGeom prst="rect">
            <a:avLst/>
          </a:prstGeom>
          <a:noFill/>
          <a:ln/>
        </p:spPr>
        <p:txBody>
          <a:bodyPr wrap="square" lIns="0" tIns="0" rIns="0" bIns="0" rtlCol="0" anchor="ctr">
            <a:normAutofit/>
          </a:bodyPr>
          <a:lstStyle/>
          <a:p>
            <a:r>
              <a:t>Conceptual model: Enhanced EER diagram</a:t>
            </a:r>
          </a:p>
        </p:txBody>
      </p:sp>
      <p:sp>
        <p:nvSpPr>
          <p:cNvPr id="4" name="Shape 2"/>
          <p:cNvSpPr/>
          <p:nvPr/>
        </p:nvSpPr>
        <p:spPr>
          <a:xfrm>
            <a:off x="502920" y="1005840"/>
            <a:ext cx="11155680" cy="0"/>
          </a:xfrm>
          <a:prstGeom prst="line">
            <a:avLst/>
          </a:prstGeom>
          <a:noFill/>
          <a:ln w="10160">
            <a:solidFill>
              <a:srgbClr val="B8C2BE"/>
            </a:solidFill>
            <a:prstDash val="solid"/>
          </a:ln>
        </p:spPr>
        <p:txBody>
          <a:bodyPr/>
          <a:p/>
        </p:txBody>
      </p:sp>
      <p:pic>
        <p:nvPicPr>
          <p:cNvPr id="5" name="Picture 4" descr="image.png"/>
          <p:cNvPicPr>
            <a:picLocks noChangeAspect="1"/>
          </p:cNvPicPr>
          <p:nvPr/>
        </p:nvPicPr>
        <p:blipFill>
          <a:blip r:embed="rId4"/>
          <a:stretch>
            <a:fillRect/>
          </a:stretch>
        </p:blipFill>
        <p:spPr>
          <a:xfrm>
            <a:off x="3624620" y="941832"/>
            <a:ext cx="4958000" cy="5532120"/>
          </a:xfrm>
          <a:prstGeom prst="rect">
            <a:avLst/>
          </a:prstGeom>
        </p:spPr>
      </p:pic>
      <p:sp>
        <p:nvSpPr>
          <p:cNvPr id="6" name="TextBox 5"/>
          <p:cNvSpPr txBox="1"/>
          <p:nvPr/>
        </p:nvSpPr>
        <p:spPr>
          <a:xfrm>
            <a:off x="594360" y="6473952"/>
            <a:ext cx="10972800" cy="182880"/>
          </a:xfrm>
          <a:prstGeom prst="rect">
            <a:avLst/>
          </a:prstGeom>
          <a:noFill/>
        </p:spPr>
        <p:txBody>
          <a:bodyPr wrap="none">
            <a:spAutoFit/>
          </a:bodyPr>
          <a:lstStyle/>
          <a:p>
            <a:pPr>
              <a:defRPr sz="850" i="1"/>
            </a:pPr>
            <a:r>
              <a:t>EER model in Chen's notation: entity rectangles, attribute ovals, relationship diamonds, cardinalities and PERSON specialisation.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502920" y="256032"/>
            <a:ext cx="11155680" cy="201168"/>
          </a:xfrm>
          <a:prstGeom prst="rect">
            <a:avLst/>
          </a:prstGeom>
          <a:noFill/>
          <a:ln/>
        </p:spPr>
        <p:txBody>
          <a:bodyPr wrap="square" lIns="0" tIns="0" rIns="0" bIns="0" rtlCol="0" anchor="ctr"/>
          <a:lstStyle/>
          <a:p>
            <a:pPr indent="0" marL="0">
              <a:buNone/>
            </a:pPr>
            <a:r>
              <a:rPr lang="en-US" sz="850" b="1" dirty="0">
                <a:solidFill>
                  <a:srgbClr val="61706E"/>
                </a:solidFill>
                <a:latin typeface="Arial" pitchFamily="34" charset="0"/>
                <a:ea typeface="Arial" pitchFamily="34" charset="-122"/>
                <a:cs typeface="Arial" pitchFamily="34" charset="-120"/>
              </a:rPr>
              <a:t>LOGICAL STRUCTURE</a:t>
            </a:r>
            <a:endParaRPr lang="en-US" sz="850" dirty="0"/>
          </a:p>
        </p:txBody>
      </p:sp>
      <p:sp>
        <p:nvSpPr>
          <p:cNvPr id="3" name="Text 1"/>
          <p:cNvSpPr/>
          <p:nvPr/>
        </p:nvSpPr>
        <p:spPr>
          <a:xfrm>
            <a:off x="502920" y="475488"/>
            <a:ext cx="11155680" cy="438912"/>
          </a:xfrm>
          <a:prstGeom prst="rect">
            <a:avLst/>
          </a:prstGeom>
          <a:noFill/>
          <a:ln/>
        </p:spPr>
        <p:txBody>
          <a:bodyPr wrap="square" lIns="0" tIns="0" rIns="0" bIns="0" rtlCol="0" anchor="ctr">
            <a:normAutofit/>
          </a:bodyPr>
          <a:lstStyle/>
          <a:p>
            <a:pPr indent="0" marL="0">
              <a:buNone/>
            </a:pPr>
            <a:r>
              <a:rPr lang="en-US" sz="2500" b="1" dirty="0">
                <a:solidFill>
                  <a:srgbClr val="1A2B2B"/>
                </a:solidFill>
                <a:latin typeface="Arial" pitchFamily="34" charset="0"/>
                <a:ea typeface="Arial" pitchFamily="34" charset="-122"/>
                <a:cs typeface="Arial" pitchFamily="34" charset="-120"/>
              </a:rPr>
              <a:t>UML class diagram</a:t>
            </a:r>
            <a:endParaRPr lang="en-US" sz="2500" dirty="0"/>
          </a:p>
        </p:txBody>
      </p:sp>
      <p:sp>
        <p:nvSpPr>
          <p:cNvPr id="4" name="Shape 2"/>
          <p:cNvSpPr/>
          <p:nvPr/>
        </p:nvSpPr>
        <p:spPr>
          <a:xfrm>
            <a:off x="502920" y="1005840"/>
            <a:ext cx="11155680" cy="0"/>
          </a:xfrm>
          <a:prstGeom prst="line">
            <a:avLst/>
          </a:prstGeom>
          <a:noFill/>
          <a:ln w="10160">
            <a:solidFill>
              <a:srgbClr val="B8C2BE"/>
            </a:solidFill>
            <a:prstDash val="solid"/>
          </a:ln>
        </p:spPr>
        <p:txBody>
          <a:bodyPr/>
          <a:p/>
        </p:txBody>
      </p:sp>
      <p:sp>
        <p:nvSpPr>
          <p:cNvPr id="5" name="Shape 3"/>
          <p:cNvSpPr/>
          <p:nvPr/>
        </p:nvSpPr>
        <p:spPr>
          <a:xfrm>
            <a:off x="502920" y="1143000"/>
            <a:ext cx="11201400" cy="5166360"/>
          </a:xfrm>
          <a:prstGeom prst="rect">
            <a:avLst/>
          </a:prstGeom>
          <a:solidFill>
            <a:srgbClr val="FFFFFF"/>
          </a:solidFill>
          <a:ln w="7620">
            <a:solidFill>
              <a:srgbClr val="B8C2BE"/>
            </a:solidFill>
            <a:prstDash val="solid"/>
          </a:ln>
        </p:spPr>
        <p:txBody>
          <a:bodyPr/>
          <a:p/>
        </p:txBody>
      </p:sp>
      <p:pic>
        <p:nvPicPr>
          <p:cNvPr id="6" name="Image 0" descr="/mnt/data/final uml.png">    </p:cNvPr>
          <p:cNvPicPr>
            <a:picLocks noChangeAspect="1"/>
          </p:cNvPicPr>
          <p:nvPr/>
        </p:nvPicPr>
        <p:blipFill>
          <a:blip r:embed="rId1"/>
          <a:stretch>
            <a:fillRect/>
          </a:stretch>
        </p:blipFill>
        <p:spPr>
          <a:xfrm>
            <a:off x="3182631" y="1197864"/>
            <a:ext cx="5841978" cy="5056632"/>
          </a:xfrm>
          <a:prstGeom prst="rect">
            <a:avLst/>
          </a:prstGeom>
        </p:spPr>
      </p:pic>
      <p:sp>
        <p:nvSpPr>
          <p:cNvPr id="7" name="Text 4"/>
          <p:cNvSpPr/>
          <p:nvPr/>
        </p:nvSpPr>
        <p:spPr>
          <a:xfrm>
            <a:off x="594360" y="6355080"/>
            <a:ext cx="10972800" cy="237744"/>
          </a:xfrm>
          <a:prstGeom prst="rect">
            <a:avLst/>
          </a:prstGeom>
          <a:noFill/>
          <a:ln/>
        </p:spPr>
        <p:txBody>
          <a:bodyPr wrap="square" lIns="0" tIns="0" rIns="0" bIns="0" rtlCol="0" anchor="ctr">
            <a:normAutofit/>
          </a:bodyPr>
          <a:lstStyle/>
          <a:p>
            <a:pPr indent="0" marL="0">
              <a:buNone/>
            </a:pPr>
            <a:r>
              <a:rPr lang="en-US" sz="1050" dirty="0">
                <a:solidFill>
                  <a:srgbClr val="61706E"/>
                </a:solidFill>
              </a:rPr>
              <a:t>The UML diagram translates the same system into class boxes, attributes, multiplicities, generalisation and a derived /invoice_total attribute.</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502920" y="256032"/>
            <a:ext cx="11155680" cy="201168"/>
          </a:xfrm>
          <a:prstGeom prst="rect">
            <a:avLst/>
          </a:prstGeom>
          <a:noFill/>
          <a:ln/>
        </p:spPr>
        <p:txBody>
          <a:bodyPr wrap="square" lIns="0" tIns="0" rIns="0" bIns="0" rtlCol="0" anchor="ctr"/>
          <a:lstStyle/>
          <a:p>
            <a:pPr indent="0" marL="0">
              <a:buNone/>
            </a:pPr>
            <a:r>
              <a:rPr lang="en-US" sz="850" b="1" dirty="0">
                <a:solidFill>
                  <a:srgbClr val="61706E"/>
                </a:solidFill>
                <a:latin typeface="Arial" pitchFamily="34" charset="0"/>
                <a:ea typeface="Arial" pitchFamily="34" charset="-122"/>
                <a:cs typeface="Arial" pitchFamily="34" charset="-120"/>
              </a:rPr>
              <a:t>LOGICAL MODEL</a:t>
            </a:r>
            <a:endParaRPr lang="en-US" sz="850" dirty="0"/>
          </a:p>
        </p:txBody>
      </p:sp>
      <p:sp>
        <p:nvSpPr>
          <p:cNvPr id="3" name="Text 1"/>
          <p:cNvSpPr/>
          <p:nvPr/>
        </p:nvSpPr>
        <p:spPr>
          <a:xfrm>
            <a:off x="502920" y="475488"/>
            <a:ext cx="11155680" cy="438912"/>
          </a:xfrm>
          <a:prstGeom prst="rect">
            <a:avLst/>
          </a:prstGeom>
          <a:noFill/>
          <a:ln/>
        </p:spPr>
        <p:txBody>
          <a:bodyPr wrap="square" lIns="0" tIns="0" rIns="0" bIns="0" rtlCol="0" anchor="ctr">
            <a:normAutofit/>
          </a:bodyPr>
          <a:lstStyle/>
          <a:p>
            <a:r>
              <a:t>EER to relational mapping</a:t>
            </a:r>
          </a:p>
        </p:txBody>
      </p:sp>
      <p:sp>
        <p:nvSpPr>
          <p:cNvPr id="4" name="Shape 2"/>
          <p:cNvSpPr/>
          <p:nvPr/>
        </p:nvSpPr>
        <p:spPr>
          <a:xfrm>
            <a:off x="502920" y="1005840"/>
            <a:ext cx="11155680" cy="0"/>
          </a:xfrm>
          <a:prstGeom prst="line">
            <a:avLst/>
          </a:prstGeom>
          <a:noFill/>
          <a:ln w="10160">
            <a:solidFill>
              <a:srgbClr val="B8C2BE"/>
            </a:solidFill>
            <a:prstDash val="solid"/>
          </a:ln>
        </p:spPr>
        <p:txBody>
          <a:bodyPr/>
          <a:p/>
        </p:txBody>
      </p:sp>
      <p:sp>
        <p:nvSpPr>
          <p:cNvPr id="16" name="Text 13"/>
          <p:cNvSpPr/>
          <p:nvPr/>
        </p:nvSpPr>
        <p:spPr>
          <a:xfrm>
            <a:off x="502920" y="6537960"/>
            <a:ext cx="11155680" cy="146304"/>
          </a:xfrm>
          <a:prstGeom prst="rect">
            <a:avLst/>
          </a:prstGeom>
          <a:noFill/>
          <a:ln/>
        </p:spPr>
        <p:txBody>
          <a:bodyPr wrap="square" lIns="0" tIns="0" rIns="0" bIns="0" rtlCol="0" anchor="ctr"/>
          <a:lstStyle/>
          <a:p>
            <a:pPr indent="0" marL="0">
              <a:buNone/>
            </a:pPr>
            <a:r>
              <a:rPr lang="en-US" sz="750" dirty="0">
                <a:solidFill>
                  <a:srgbClr val="61706E"/>
                </a:solidFill>
                <a:latin typeface="Arial" pitchFamily="34" charset="0"/>
                <a:ea typeface="Arial" pitchFamily="34" charset="-122"/>
                <a:cs typeface="Arial" pitchFamily="34" charset="-120"/>
              </a:rPr>
              <a:t>PRT563 Advanced Data Management  ·  Darwin Group 7  ·  6</a:t>
            </a:r>
            <a:endParaRPr lang="en-US" sz="750" dirty="0"/>
          </a:p>
        </p:txBody>
      </p:sp>
      <p:pic>
        <p:nvPicPr>
          <p:cNvPr id="17" name="Picture 16" descr="image.png"/>
          <p:cNvPicPr>
            <a:picLocks noChangeAspect="1"/>
          </p:cNvPicPr>
          <p:nvPr/>
        </p:nvPicPr>
        <p:blipFill>
          <a:blip r:embed="rId5"/>
          <a:stretch>
            <a:fillRect/>
          </a:stretch>
        </p:blipFill>
        <p:spPr>
          <a:xfrm>
            <a:off x="1268248" y="896112"/>
            <a:ext cx="9634168" cy="5532120"/>
          </a:xfrm>
          <a:prstGeom prst="rect">
            <a:avLst/>
          </a:prstGeom>
        </p:spPr>
      </p:pic>
      <p:sp>
        <p:nvSpPr>
          <p:cNvPr id="18" name="TextBox 17"/>
          <p:cNvSpPr txBox="1"/>
          <p:nvPr/>
        </p:nvSpPr>
        <p:spPr>
          <a:xfrm>
            <a:off x="411480" y="6492240"/>
            <a:ext cx="11247120" cy="182880"/>
          </a:xfrm>
          <a:prstGeom prst="rect">
            <a:avLst/>
          </a:prstGeom>
          <a:noFill/>
        </p:spPr>
        <p:txBody>
          <a:bodyPr wrap="none">
            <a:spAutoFit/>
          </a:bodyPr>
          <a:lstStyle/>
          <a:p>
            <a:pPr>
              <a:defRPr sz="850" i="1"/>
            </a:pPr>
            <a:r>
              <a:t>Underlined attributes are primary keys; arrows indicate foreign-key references; [UQ] shows uniqueness constraints.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502920" y="256032"/>
            <a:ext cx="11155680" cy="201168"/>
          </a:xfrm>
          <a:prstGeom prst="rect">
            <a:avLst/>
          </a:prstGeom>
          <a:noFill/>
          <a:ln/>
        </p:spPr>
        <p:txBody>
          <a:bodyPr wrap="square" lIns="0" tIns="0" rIns="0" bIns="0" rtlCol="0" anchor="ctr"/>
          <a:lstStyle/>
          <a:p>
            <a:pPr indent="0" marL="0">
              <a:buNone/>
            </a:pPr>
            <a:r>
              <a:rPr lang="en-US" sz="850" b="1" dirty="0">
                <a:solidFill>
                  <a:srgbClr val="61706E"/>
                </a:solidFill>
                <a:latin typeface="Arial" pitchFamily="34" charset="0"/>
                <a:ea typeface="Arial" pitchFamily="34" charset="-122"/>
                <a:cs typeface="Arial" pitchFamily="34" charset="-120"/>
              </a:rPr>
              <a:t>DATA QUALITY</a:t>
            </a:r>
            <a:endParaRPr lang="en-US" sz="850" dirty="0"/>
          </a:p>
        </p:txBody>
      </p:sp>
      <p:sp>
        <p:nvSpPr>
          <p:cNvPr id="3" name="Text 1"/>
          <p:cNvSpPr/>
          <p:nvPr/>
        </p:nvSpPr>
        <p:spPr>
          <a:xfrm>
            <a:off x="502920" y="475488"/>
            <a:ext cx="11155680" cy="438912"/>
          </a:xfrm>
          <a:prstGeom prst="rect">
            <a:avLst/>
          </a:prstGeom>
          <a:noFill/>
          <a:ln/>
        </p:spPr>
        <p:txBody>
          <a:bodyPr wrap="square" lIns="0" tIns="0" rIns="0" bIns="0" rtlCol="0" anchor="ctr">
            <a:normAutofit/>
          </a:bodyPr>
          <a:lstStyle/>
          <a:p>
            <a:pPr indent="0" marL="0">
              <a:buNone/>
            </a:pPr>
            <a:r>
              <a:rPr lang="en-US" sz="2500" b="1" dirty="0">
                <a:solidFill>
                  <a:srgbClr val="1A2B2B"/>
                </a:solidFill>
                <a:latin typeface="Arial" pitchFamily="34" charset="0"/>
                <a:ea typeface="Arial" pitchFamily="34" charset="-122"/>
                <a:cs typeface="Arial" pitchFamily="34" charset="-120"/>
              </a:rPr>
              <a:t>Normalisation to Third Normal Form</a:t>
            </a:r>
            <a:endParaRPr lang="en-US" sz="2500" dirty="0"/>
          </a:p>
        </p:txBody>
      </p:sp>
      <p:sp>
        <p:nvSpPr>
          <p:cNvPr id="4" name="Shape 2"/>
          <p:cNvSpPr/>
          <p:nvPr/>
        </p:nvSpPr>
        <p:spPr>
          <a:xfrm>
            <a:off x="502920" y="1005840"/>
            <a:ext cx="11155680" cy="0"/>
          </a:xfrm>
          <a:prstGeom prst="line">
            <a:avLst/>
          </a:prstGeom>
          <a:noFill/>
          <a:ln w="10160">
            <a:solidFill>
              <a:srgbClr val="B8C2BE"/>
            </a:solidFill>
            <a:prstDash val="solid"/>
          </a:ln>
        </p:spPr>
        <p:txBody>
          <a:bodyPr/>
          <a:p/>
        </p:txBody>
      </p:sp>
      <p:sp>
        <p:nvSpPr>
          <p:cNvPr id="5" name="Shape 3"/>
          <p:cNvSpPr/>
          <p:nvPr/>
        </p:nvSpPr>
        <p:spPr>
          <a:xfrm>
            <a:off x="777240" y="1472184"/>
            <a:ext cx="9144" cy="1261872"/>
          </a:xfrm>
          <a:prstGeom prst="line">
            <a:avLst/>
          </a:prstGeom>
          <a:noFill/>
          <a:ln w="38100">
            <a:solidFill>
              <a:srgbClr val="2CA58D"/>
            </a:solidFill>
            <a:prstDash val="solid"/>
          </a:ln>
        </p:spPr>
        <p:txBody>
          <a:bodyPr/>
          <a:p/>
        </p:txBody>
      </p:sp>
      <p:sp>
        <p:nvSpPr>
          <p:cNvPr id="6" name="Text 4"/>
          <p:cNvSpPr/>
          <p:nvPr/>
        </p:nvSpPr>
        <p:spPr>
          <a:xfrm>
            <a:off x="914400" y="1417320"/>
            <a:ext cx="3108960" cy="246888"/>
          </a:xfrm>
          <a:prstGeom prst="rect">
            <a:avLst/>
          </a:prstGeom>
          <a:noFill/>
          <a:ln/>
        </p:spPr>
        <p:txBody>
          <a:bodyPr wrap="square" lIns="0" tIns="0" rIns="0" bIns="0" rtlCol="0" anchor="ctr"/>
          <a:lstStyle/>
          <a:p>
            <a:pPr indent="0" marL="0">
              <a:buNone/>
            </a:pPr>
            <a:r>
              <a:rPr lang="en-US" sz="1400" b="1" dirty="0">
                <a:solidFill>
                  <a:srgbClr val="1A2B2B"/>
                </a:solidFill>
                <a:latin typeface="Arial" pitchFamily="34" charset="0"/>
                <a:ea typeface="Arial" pitchFamily="34" charset="-122"/>
                <a:cs typeface="Arial" pitchFamily="34" charset="-120"/>
              </a:rPr>
              <a:t>1NF</a:t>
            </a:r>
            <a:endParaRPr lang="en-US" sz="1400" dirty="0"/>
          </a:p>
        </p:txBody>
      </p:sp>
      <p:sp>
        <p:nvSpPr>
          <p:cNvPr id="7" name="Text 5"/>
          <p:cNvSpPr/>
          <p:nvPr/>
        </p:nvSpPr>
        <p:spPr>
          <a:xfrm>
            <a:off x="914400" y="1746504"/>
            <a:ext cx="3108960" cy="1051560"/>
          </a:xfrm>
          <a:prstGeom prst="rect">
            <a:avLst/>
          </a:prstGeom>
          <a:noFill/>
          <a:ln/>
        </p:spPr>
        <p:txBody>
          <a:bodyPr wrap="square" lIns="254" tIns="254" rIns="254" bIns="254" rtlCol="0" anchor="t">
            <a:normAutofit/>
          </a:bodyPr>
          <a:lstStyle/>
          <a:p>
            <a:pPr indent="0" marL="0">
              <a:buNone/>
            </a:pPr>
            <a:r>
              <a:rPr lang="en-US" sz="1250" dirty="0">
                <a:solidFill>
                  <a:srgbClr val="61706E"/>
                </a:solidFill>
                <a:latin typeface="Arial" pitchFamily="34" charset="0"/>
                <a:ea typeface="Arial" pitchFamily="34" charset="-122"/>
                <a:cs typeface="Arial" pitchFamily="34" charset="-120"/>
              </a:rPr>
              <a:t>Each table has a primary key. Attributes hold single values within scope. Repeating groups are separated into child relations such as PAYMENT and PROGRESS_NOTE.</a:t>
            </a:r>
            <a:endParaRPr lang="en-US" sz="1250" dirty="0"/>
          </a:p>
        </p:txBody>
      </p:sp>
      <p:sp>
        <p:nvSpPr>
          <p:cNvPr id="8" name="Shape 6"/>
          <p:cNvSpPr/>
          <p:nvPr/>
        </p:nvSpPr>
        <p:spPr>
          <a:xfrm>
            <a:off x="4480560" y="1472184"/>
            <a:ext cx="9144" cy="1261872"/>
          </a:xfrm>
          <a:prstGeom prst="line">
            <a:avLst/>
          </a:prstGeom>
          <a:noFill/>
          <a:ln w="38100">
            <a:solidFill>
              <a:srgbClr val="D9A441"/>
            </a:solidFill>
            <a:prstDash val="solid"/>
          </a:ln>
        </p:spPr>
        <p:txBody>
          <a:bodyPr/>
          <a:p/>
        </p:txBody>
      </p:sp>
      <p:sp>
        <p:nvSpPr>
          <p:cNvPr id="9" name="Text 7"/>
          <p:cNvSpPr/>
          <p:nvPr/>
        </p:nvSpPr>
        <p:spPr>
          <a:xfrm>
            <a:off x="4617720" y="1417320"/>
            <a:ext cx="3108960" cy="246888"/>
          </a:xfrm>
          <a:prstGeom prst="rect">
            <a:avLst/>
          </a:prstGeom>
          <a:noFill/>
          <a:ln/>
        </p:spPr>
        <p:txBody>
          <a:bodyPr wrap="square" lIns="0" tIns="0" rIns="0" bIns="0" rtlCol="0" anchor="ctr"/>
          <a:lstStyle/>
          <a:p>
            <a:pPr indent="0" marL="0">
              <a:buNone/>
            </a:pPr>
            <a:r>
              <a:rPr lang="en-US" sz="1400" b="1" dirty="0">
                <a:solidFill>
                  <a:srgbClr val="1A2B2B"/>
                </a:solidFill>
                <a:latin typeface="Arial" pitchFamily="34" charset="0"/>
                <a:ea typeface="Arial" pitchFamily="34" charset="-122"/>
                <a:cs typeface="Arial" pitchFamily="34" charset="-120"/>
              </a:rPr>
              <a:t>2NF</a:t>
            </a:r>
            <a:endParaRPr lang="en-US" sz="1400" dirty="0"/>
          </a:p>
        </p:txBody>
      </p:sp>
      <p:sp>
        <p:nvSpPr>
          <p:cNvPr id="10" name="Text 8"/>
          <p:cNvSpPr/>
          <p:nvPr/>
        </p:nvSpPr>
        <p:spPr>
          <a:xfrm>
            <a:off x="4617720" y="1746504"/>
            <a:ext cx="3108960" cy="1051560"/>
          </a:xfrm>
          <a:prstGeom prst="rect">
            <a:avLst/>
          </a:prstGeom>
          <a:noFill/>
          <a:ln/>
        </p:spPr>
        <p:txBody>
          <a:bodyPr wrap="square" lIns="254" tIns="254" rIns="254" bIns="254" rtlCol="0" anchor="t">
            <a:normAutofit/>
          </a:bodyPr>
          <a:lstStyle/>
          <a:p>
            <a:pPr indent="0" marL="0">
              <a:buNone/>
            </a:pPr>
            <a:r>
              <a:rPr lang="en-US" sz="1250" dirty="0">
                <a:solidFill>
                  <a:srgbClr val="61706E"/>
                </a:solidFill>
                <a:latin typeface="Arial" pitchFamily="34" charset="0"/>
                <a:ea typeface="Arial" pitchFamily="34" charset="-122"/>
                <a:cs typeface="Arial" pitchFamily="34" charset="-120"/>
              </a:rPr>
              <a:t>Non-key attributes depend on the whole key. Most tables use a single-column primary key; association details in WORKER_QUALIFICATION describe that worker–qualification link.</a:t>
            </a:r>
            <a:endParaRPr lang="en-US" sz="1250" dirty="0"/>
          </a:p>
        </p:txBody>
      </p:sp>
      <p:sp>
        <p:nvSpPr>
          <p:cNvPr id="11" name="Shape 9"/>
          <p:cNvSpPr/>
          <p:nvPr/>
        </p:nvSpPr>
        <p:spPr>
          <a:xfrm>
            <a:off x="8183880" y="1472184"/>
            <a:ext cx="9144" cy="1261872"/>
          </a:xfrm>
          <a:prstGeom prst="line">
            <a:avLst/>
          </a:prstGeom>
          <a:noFill/>
          <a:ln w="38100">
            <a:solidFill>
              <a:srgbClr val="2CA58D"/>
            </a:solidFill>
            <a:prstDash val="solid"/>
          </a:ln>
        </p:spPr>
        <p:txBody>
          <a:bodyPr/>
          <a:p/>
        </p:txBody>
      </p:sp>
      <p:sp>
        <p:nvSpPr>
          <p:cNvPr id="12" name="Text 10"/>
          <p:cNvSpPr/>
          <p:nvPr/>
        </p:nvSpPr>
        <p:spPr>
          <a:xfrm>
            <a:off x="8321040" y="1417320"/>
            <a:ext cx="3108960" cy="246888"/>
          </a:xfrm>
          <a:prstGeom prst="rect">
            <a:avLst/>
          </a:prstGeom>
          <a:noFill/>
          <a:ln/>
        </p:spPr>
        <p:txBody>
          <a:bodyPr wrap="square" lIns="0" tIns="0" rIns="0" bIns="0" rtlCol="0" anchor="ctr"/>
          <a:lstStyle/>
          <a:p>
            <a:pPr indent="0" marL="0">
              <a:buNone/>
            </a:pPr>
            <a:r>
              <a:rPr lang="en-US" sz="1400" b="1" dirty="0">
                <a:solidFill>
                  <a:srgbClr val="1A2B2B"/>
                </a:solidFill>
                <a:latin typeface="Arial" pitchFamily="34" charset="0"/>
                <a:ea typeface="Arial" pitchFamily="34" charset="-122"/>
                <a:cs typeface="Arial" pitchFamily="34" charset="-120"/>
              </a:rPr>
              <a:t>3NF</a:t>
            </a:r>
            <a:endParaRPr lang="en-US" sz="1400" dirty="0"/>
          </a:p>
        </p:txBody>
      </p:sp>
      <p:sp>
        <p:nvSpPr>
          <p:cNvPr id="13" name="Text 11"/>
          <p:cNvSpPr/>
          <p:nvPr/>
        </p:nvSpPr>
        <p:spPr>
          <a:xfrm>
            <a:off x="8321040" y="1746504"/>
            <a:ext cx="3108960" cy="1051560"/>
          </a:xfrm>
          <a:prstGeom prst="rect">
            <a:avLst/>
          </a:prstGeom>
          <a:noFill/>
          <a:ln/>
        </p:spPr>
        <p:txBody>
          <a:bodyPr wrap="square" lIns="254" tIns="254" rIns="254" bIns="254" rtlCol="0" anchor="t">
            <a:normAutofit/>
          </a:bodyPr>
          <a:lstStyle/>
          <a:p>
            <a:pPr indent="0" marL="0">
              <a:buNone/>
            </a:pPr>
            <a:r>
              <a:rPr lang="en-US" sz="1250" dirty="0">
                <a:solidFill>
                  <a:srgbClr val="61706E"/>
                </a:solidFill>
                <a:latin typeface="Arial" pitchFamily="34" charset="0"/>
                <a:ea typeface="Arial" pitchFamily="34" charset="-122"/>
                <a:cs typeface="Arial" pitchFamily="34" charset="-120"/>
              </a:rPr>
              <a:t>Data about workers, service types, locations and funding bodies is stored once in the correct relation, not repeated in bookings, invoices or incidents.</a:t>
            </a:r>
            <a:endParaRPr lang="en-US" sz="1250" dirty="0"/>
          </a:p>
        </p:txBody>
      </p:sp>
      <p:sp>
        <p:nvSpPr>
          <p:cNvPr id="14" name="Text 12"/>
          <p:cNvSpPr/>
          <p:nvPr/>
        </p:nvSpPr>
        <p:spPr>
          <a:xfrm>
            <a:off x="777240" y="3337560"/>
            <a:ext cx="10789920" cy="292608"/>
          </a:xfrm>
          <a:prstGeom prst="rect">
            <a:avLst/>
          </a:prstGeom>
          <a:noFill/>
          <a:ln/>
        </p:spPr>
        <p:txBody>
          <a:bodyPr wrap="square" lIns="0" tIns="0" rIns="0" bIns="0" rtlCol="0" anchor="ctr"/>
          <a:lstStyle/>
          <a:p>
            <a:pPr indent="0" marL="0">
              <a:buNone/>
            </a:pPr>
            <a:r>
              <a:rPr lang="en-US" sz="1700" b="1" dirty="0">
                <a:solidFill>
                  <a:srgbClr val="1A2B2B"/>
                </a:solidFill>
              </a:rPr>
              <a:t>Examples used in our model</a:t>
            </a:r>
            <a:endParaRPr lang="en-US" sz="1700" dirty="0"/>
          </a:p>
        </p:txBody>
      </p:sp>
      <p:sp>
        <p:nvSpPr>
          <p:cNvPr id="15" name="Text 13"/>
          <p:cNvSpPr/>
          <p:nvPr/>
        </p:nvSpPr>
        <p:spPr>
          <a:xfrm>
            <a:off x="960120" y="3822192"/>
            <a:ext cx="10515600" cy="1508760"/>
          </a:xfrm>
          <a:prstGeom prst="rect">
            <a:avLst/>
          </a:prstGeom>
          <a:noFill/>
          <a:ln/>
        </p:spPr>
        <p:txBody>
          <a:bodyPr wrap="square" lIns="254" tIns="254" rIns="254" bIns="254" rtlCol="0" anchor="ctr">
            <a:normAutofit/>
          </a:bodyPr>
          <a:lstStyle/>
          <a:p>
            <a:pPr indent="0" marL="0">
              <a:buNone/>
            </a:pPr>
            <a:r>
              <a:rPr lang="en-US" sz="1600" dirty="0">
                <a:solidFill>
                  <a:srgbClr val="61706E"/>
                </a:solidFill>
              </a:rPr>
              <a:t>• WORKER_QUALIFICATION resolves the worker–qualification many-to-many relationship</a:t>
            </a:r>
            <a:endParaRPr lang="en-US" sz="1600" dirty="0"/>
          </a:p>
          <a:p>
            <a:pPr indent="0" marL="0">
              <a:buNone/>
            </a:pPr>
            <a:r>
              <a:rPr lang="en-US" sz="1600" dirty="0">
                <a:solidFill>
                  <a:srgbClr val="61706E"/>
                </a:solidFill>
              </a:rPr>
              <a:t>• FUNDING_BODY details stay in FUNDING_BODY and are referenced by FUNDING_ALLOCATION</a:t>
            </a:r>
            <a:endParaRPr lang="en-US" sz="1600" dirty="0"/>
          </a:p>
          <a:p>
            <a:pPr indent="0" marL="0">
              <a:buNone/>
            </a:pPr>
            <a:r>
              <a:rPr lang="en-US" sz="1600" dirty="0">
                <a:solidFill>
                  <a:srgbClr val="61706E"/>
                </a:solidFill>
              </a:rPr>
              <a:t>• Invoice total is calculated from INVOICE_LINE instead of stored in INVOICE</a:t>
            </a:r>
            <a:endParaRPr lang="en-US" sz="1600" dirty="0"/>
          </a:p>
          <a:p>
            <a:pPr indent="0" marL="0">
              <a:buNone/>
            </a:pPr>
            <a:r>
              <a:rPr lang="en-US" sz="1600" dirty="0">
                <a:solidFill>
                  <a:srgbClr val="61706E"/>
                </a:solidFill>
              </a:rPr>
              <a:t>• INCIDENT_REPORT does not duplicate client details; the client can be reached through delivery → booking → agreement</a:t>
            </a:r>
            <a:endParaRPr lang="en-US" sz="1600" dirty="0"/>
          </a:p>
        </p:txBody>
      </p:sp>
      <p:sp>
        <p:nvSpPr>
          <p:cNvPr id="16" name="Text 14"/>
          <p:cNvSpPr/>
          <p:nvPr/>
        </p:nvSpPr>
        <p:spPr>
          <a:xfrm>
            <a:off x="777240" y="5715000"/>
            <a:ext cx="10789920" cy="320040"/>
          </a:xfrm>
          <a:prstGeom prst="rect">
            <a:avLst/>
          </a:prstGeom>
          <a:noFill/>
          <a:ln/>
        </p:spPr>
        <p:txBody>
          <a:bodyPr wrap="square" lIns="0" tIns="0" rIns="0" bIns="0" rtlCol="0" anchor="ctr">
            <a:normAutofit/>
          </a:bodyPr>
          <a:lstStyle/>
          <a:p>
            <a:pPr indent="0" marL="0">
              <a:buNone/>
            </a:pPr>
            <a:r>
              <a:rPr lang="en-US" sz="1700" b="1" dirty="0">
                <a:solidFill>
                  <a:srgbClr val="0F3D3E"/>
                </a:solidFill>
              </a:rPr>
              <a:t>Outcome: fewer update, insertion and deletion anomalies while preserving referential integrity.</a:t>
            </a:r>
            <a:endParaRPr lang="en-US" sz="1700" dirty="0"/>
          </a:p>
        </p:txBody>
      </p:sp>
      <p:sp>
        <p:nvSpPr>
          <p:cNvPr id="17" name="Text 15"/>
          <p:cNvSpPr/>
          <p:nvPr/>
        </p:nvSpPr>
        <p:spPr>
          <a:xfrm>
            <a:off x="502920" y="6537960"/>
            <a:ext cx="11155680" cy="146304"/>
          </a:xfrm>
          <a:prstGeom prst="rect">
            <a:avLst/>
          </a:prstGeom>
          <a:noFill/>
          <a:ln/>
        </p:spPr>
        <p:txBody>
          <a:bodyPr wrap="square" lIns="0" tIns="0" rIns="0" bIns="0" rtlCol="0" anchor="ctr"/>
          <a:lstStyle/>
          <a:p>
            <a:pPr indent="0" marL="0">
              <a:buNone/>
            </a:pPr>
            <a:r>
              <a:rPr lang="en-US" sz="750" dirty="0">
                <a:solidFill>
                  <a:srgbClr val="61706E"/>
                </a:solidFill>
                <a:latin typeface="Arial" pitchFamily="34" charset="0"/>
                <a:ea typeface="Arial" pitchFamily="34" charset="-122"/>
                <a:cs typeface="Arial" pitchFamily="34" charset="-120"/>
              </a:rPr>
              <a:t>PRT563 Advanced Data Management  ·  Darwin Group 7  ·  7</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502920" y="256032"/>
            <a:ext cx="11155680" cy="201168"/>
          </a:xfrm>
          <a:prstGeom prst="rect">
            <a:avLst/>
          </a:prstGeom>
          <a:noFill/>
          <a:ln/>
        </p:spPr>
        <p:txBody>
          <a:bodyPr wrap="square" lIns="0" tIns="0" rIns="0" bIns="0" rtlCol="0" anchor="ctr"/>
          <a:lstStyle/>
          <a:p>
            <a:pPr indent="0" marL="0">
              <a:buNone/>
            </a:pPr>
            <a:r>
              <a:rPr lang="en-US" sz="850" b="1" dirty="0">
                <a:solidFill>
                  <a:srgbClr val="61706E"/>
                </a:solidFill>
                <a:latin typeface="Arial" pitchFamily="34" charset="0"/>
                <a:ea typeface="Arial" pitchFamily="34" charset="-122"/>
                <a:cs typeface="Arial" pitchFamily="34" charset="-120"/>
              </a:rPr>
              <a:t>DATABASE BUILD</a:t>
            </a:r>
            <a:endParaRPr lang="en-US" sz="850" dirty="0"/>
          </a:p>
        </p:txBody>
      </p:sp>
      <p:sp>
        <p:nvSpPr>
          <p:cNvPr id="3" name="Text 1"/>
          <p:cNvSpPr/>
          <p:nvPr/>
        </p:nvSpPr>
        <p:spPr>
          <a:xfrm>
            <a:off x="502920" y="475488"/>
            <a:ext cx="11155680" cy="438912"/>
          </a:xfrm>
          <a:prstGeom prst="rect">
            <a:avLst/>
          </a:prstGeom>
          <a:noFill/>
          <a:ln/>
        </p:spPr>
        <p:txBody>
          <a:bodyPr wrap="square" lIns="0" tIns="0" rIns="0" bIns="0" rtlCol="0" anchor="ctr">
            <a:normAutofit/>
          </a:bodyPr>
          <a:lstStyle/>
          <a:p>
            <a:pPr indent="0" marL="0">
              <a:buNone/>
            </a:pPr>
            <a:r>
              <a:rPr lang="en-US" sz="2500" b="1" dirty="0">
                <a:solidFill>
                  <a:srgbClr val="1A2B2B"/>
                </a:solidFill>
                <a:latin typeface="Arial" pitchFamily="34" charset="0"/>
                <a:ea typeface="Arial" pitchFamily="34" charset="-122"/>
                <a:cs typeface="Arial" pitchFamily="34" charset="-120"/>
              </a:rPr>
              <a:t>SQLite implementation</a:t>
            </a:r>
            <a:endParaRPr lang="en-US" sz="2500" dirty="0"/>
          </a:p>
        </p:txBody>
      </p:sp>
      <p:sp>
        <p:nvSpPr>
          <p:cNvPr id="4" name="Shape 2"/>
          <p:cNvSpPr/>
          <p:nvPr/>
        </p:nvSpPr>
        <p:spPr>
          <a:xfrm>
            <a:off x="502920" y="1005840"/>
            <a:ext cx="11155680" cy="0"/>
          </a:xfrm>
          <a:prstGeom prst="line">
            <a:avLst/>
          </a:prstGeom>
          <a:noFill/>
          <a:ln w="10160">
            <a:solidFill>
              <a:srgbClr val="B8C2BE"/>
            </a:solidFill>
            <a:prstDash val="solid"/>
          </a:ln>
        </p:spPr>
        <p:txBody>
          <a:bodyPr/>
          <a:p/>
        </p:txBody>
      </p:sp>
      <p:sp>
        <p:nvSpPr>
          <p:cNvPr id="5" name="Shape 3"/>
          <p:cNvSpPr/>
          <p:nvPr/>
        </p:nvSpPr>
        <p:spPr>
          <a:xfrm>
            <a:off x="502920" y="1143000"/>
            <a:ext cx="5440680" cy="4937760"/>
          </a:xfrm>
          <a:prstGeom prst="rect">
            <a:avLst/>
          </a:prstGeom>
          <a:solidFill>
            <a:srgbClr val="FFFFFF"/>
          </a:solidFill>
          <a:ln w="7620">
            <a:solidFill>
              <a:srgbClr val="B8C2BE"/>
            </a:solidFill>
            <a:prstDash val="solid"/>
          </a:ln>
        </p:spPr>
        <p:txBody>
          <a:bodyPr/>
          <a:p/>
        </p:txBody>
      </p:sp>
      <p:pic>
        <p:nvPicPr>
          <p:cNvPr id="6" name="Image 0" descr="/mnt/data/18 tables.png">    </p:cNvPr>
          <p:cNvPicPr>
            <a:picLocks noChangeAspect="1"/>
          </p:cNvPicPr>
          <p:nvPr/>
        </p:nvPicPr>
        <p:blipFill>
          <a:blip r:embed="rId1"/>
          <a:stretch>
            <a:fillRect/>
          </a:stretch>
        </p:blipFill>
        <p:spPr>
          <a:xfrm>
            <a:off x="557784" y="1480797"/>
            <a:ext cx="5330952" cy="4262165"/>
          </a:xfrm>
          <a:prstGeom prst="rect">
            <a:avLst/>
          </a:prstGeom>
        </p:spPr>
      </p:pic>
      <p:sp>
        <p:nvSpPr>
          <p:cNvPr id="7" name="Text 4"/>
          <p:cNvSpPr/>
          <p:nvPr/>
        </p:nvSpPr>
        <p:spPr>
          <a:xfrm>
            <a:off x="6400800" y="1353312"/>
            <a:ext cx="5074920" cy="256032"/>
          </a:xfrm>
          <a:prstGeom prst="rect">
            <a:avLst/>
          </a:prstGeom>
          <a:noFill/>
          <a:ln/>
        </p:spPr>
        <p:txBody>
          <a:bodyPr wrap="square" lIns="0" tIns="0" rIns="0" bIns="0" rtlCol="0" anchor="ctr"/>
          <a:lstStyle/>
          <a:p>
            <a:pPr indent="0" marL="0">
              <a:buNone/>
            </a:pPr>
            <a:r>
              <a:rPr lang="en-US" sz="1550" b="1" dirty="0">
                <a:solidFill>
                  <a:srgbClr val="1A2B2B"/>
                </a:solidFill>
              </a:rPr>
              <a:t>Implementation evidence</a:t>
            </a:r>
            <a:endParaRPr lang="en-US" sz="1550" dirty="0"/>
          </a:p>
        </p:txBody>
      </p:sp>
      <p:sp>
        <p:nvSpPr>
          <p:cNvPr id="8" name="Text 5"/>
          <p:cNvSpPr/>
          <p:nvPr/>
        </p:nvSpPr>
        <p:spPr>
          <a:xfrm>
            <a:off x="6400800" y="1737360"/>
            <a:ext cx="5074920" cy="2404872"/>
          </a:xfrm>
          <a:prstGeom prst="rect">
            <a:avLst/>
          </a:prstGeom>
          <a:noFill/>
          <a:ln/>
        </p:spPr>
        <p:txBody>
          <a:bodyPr wrap="square" lIns="254" tIns="254" rIns="254" bIns="254" rtlCol="0" anchor="ctr">
            <a:normAutofit/>
          </a:bodyPr>
          <a:lstStyle/>
          <a:p>
            <a:pPr indent="0" marL="0">
              <a:buNone/>
            </a:pPr>
            <a:r>
              <a:rPr lang="en-US" sz="1400" dirty="0">
                <a:solidFill>
                  <a:srgbClr val="61706E"/>
                </a:solidFill>
              </a:rPr>
              <a:t>• 18 tables created in SQLite</a:t>
            </a:r>
            <a:endParaRPr lang="en-US" sz="1400" dirty="0"/>
          </a:p>
          <a:p>
            <a:pPr indent="0" marL="0">
              <a:buNone/>
            </a:pPr>
            <a:r>
              <a:rPr lang="en-US" sz="1400" dirty="0">
                <a:solidFill>
                  <a:srgbClr val="61706E"/>
                </a:solidFill>
              </a:rPr>
              <a:t>• Realistic sample data inserted</a:t>
            </a:r>
            <a:endParaRPr lang="en-US" sz="1400" dirty="0"/>
          </a:p>
          <a:p>
            <a:pPr indent="0" marL="0">
              <a:buNone/>
            </a:pPr>
            <a:r>
              <a:rPr lang="en-US" sz="1400" dirty="0">
                <a:solidFill>
                  <a:srgbClr val="61706E"/>
                </a:solidFill>
              </a:rPr>
              <a:t>• Primary keys and foreign keys implemented</a:t>
            </a:r>
            <a:endParaRPr lang="en-US" sz="1400" dirty="0"/>
          </a:p>
          <a:p>
            <a:pPr indent="0" marL="0">
              <a:buNone/>
            </a:pPr>
            <a:r>
              <a:rPr lang="en-US" sz="1400" dirty="0">
                <a:solidFill>
                  <a:srgbClr val="61706E"/>
                </a:solidFill>
              </a:rPr>
              <a:t>• NOT NULL, CHECK and UNIQUE constraints used</a:t>
            </a:r>
            <a:endParaRPr lang="en-US" sz="1400" dirty="0"/>
          </a:p>
          <a:p>
            <a:pPr indent="0" marL="0">
              <a:buNone/>
            </a:pPr>
            <a:r>
              <a:rPr lang="en-US" sz="1400" dirty="0">
                <a:solidFill>
                  <a:srgbClr val="61706E"/>
                </a:solidFill>
              </a:rPr>
              <a:t>• ON UPDATE CASCADE used as an advanced constraint</a:t>
            </a:r>
            <a:endParaRPr lang="en-US" sz="1400" dirty="0"/>
          </a:p>
          <a:p>
            <a:pPr indent="0" marL="0">
              <a:buNone/>
            </a:pPr>
            <a:r>
              <a:rPr lang="en-US" sz="1400" dirty="0">
                <a:solidFill>
                  <a:srgbClr val="61706E"/>
                </a:solidFill>
              </a:rPr>
              <a:t>• DROP TABLE IF EXISTS and UPDATE demonstrated in the SQL script</a:t>
            </a:r>
            <a:endParaRPr lang="en-US" sz="1400" dirty="0"/>
          </a:p>
        </p:txBody>
      </p:sp>
      <p:sp>
        <p:nvSpPr>
          <p:cNvPr id="9" name="Text 6"/>
          <p:cNvSpPr/>
          <p:nvPr/>
        </p:nvSpPr>
        <p:spPr>
          <a:xfrm>
            <a:off x="6400800" y="4389120"/>
            <a:ext cx="5074920" cy="256032"/>
          </a:xfrm>
          <a:prstGeom prst="rect">
            <a:avLst/>
          </a:prstGeom>
          <a:noFill/>
          <a:ln/>
        </p:spPr>
        <p:txBody>
          <a:bodyPr wrap="square" lIns="0" tIns="0" rIns="0" bIns="0" rtlCol="0" anchor="ctr"/>
          <a:lstStyle/>
          <a:p>
            <a:pPr indent="0" marL="0">
              <a:buNone/>
            </a:pPr>
            <a:r>
              <a:rPr lang="en-US" sz="1550" b="1" dirty="0">
                <a:solidFill>
                  <a:srgbClr val="1A2B2B"/>
                </a:solidFill>
              </a:rPr>
              <a:t>Verified row counts</a:t>
            </a:r>
            <a:endParaRPr lang="en-US" sz="1550" dirty="0"/>
          </a:p>
        </p:txBody>
      </p:sp>
      <p:sp>
        <p:nvSpPr>
          <p:cNvPr id="10" name="Text 7"/>
          <p:cNvSpPr/>
          <p:nvPr/>
        </p:nvSpPr>
        <p:spPr>
          <a:xfrm>
            <a:off x="6400800" y="4773168"/>
            <a:ext cx="5074920" cy="1124712"/>
          </a:xfrm>
          <a:prstGeom prst="rect">
            <a:avLst/>
          </a:prstGeom>
          <a:noFill/>
          <a:ln/>
        </p:spPr>
        <p:txBody>
          <a:bodyPr wrap="square" lIns="254" tIns="254" rIns="254" bIns="254" rtlCol="0" anchor="ctr">
            <a:normAutofit/>
          </a:bodyPr>
          <a:lstStyle/>
          <a:p>
            <a:pPr indent="0" marL="0">
              <a:buNone/>
            </a:pPr>
            <a:r>
              <a:rPr lang="en-US" sz="1400" dirty="0">
                <a:solidFill>
                  <a:srgbClr val="61706E"/>
                </a:solidFill>
              </a:rPr>
              <a:t>• Person: 14</a:t>
            </a:r>
            <a:endParaRPr lang="en-US" sz="1400" dirty="0"/>
          </a:p>
          <a:p>
            <a:pPr indent="0" marL="0">
              <a:buNone/>
            </a:pPr>
            <a:r>
              <a:rPr lang="en-US" sz="1400" dirty="0">
                <a:solidFill>
                  <a:srgbClr val="61706E"/>
                </a:solidFill>
              </a:rPr>
              <a:t>• Client: 8</a:t>
            </a:r>
            <a:endParaRPr lang="en-US" sz="1400" dirty="0"/>
          </a:p>
          <a:p>
            <a:pPr indent="0" marL="0">
              <a:buNone/>
            </a:pPr>
            <a:r>
              <a:rPr lang="en-US" sz="1400" dirty="0">
                <a:solidFill>
                  <a:srgbClr val="61706E"/>
                </a:solidFill>
              </a:rPr>
              <a:t>• Support_Worker: 6</a:t>
            </a:r>
            <a:endParaRPr lang="en-US" sz="1400" dirty="0"/>
          </a:p>
          <a:p>
            <a:pPr indent="0" marL="0">
              <a:buNone/>
            </a:pPr>
            <a:r>
              <a:rPr lang="en-US" sz="1400" dirty="0">
                <a:solidFill>
                  <a:srgbClr val="61706E"/>
                </a:solidFill>
              </a:rPr>
              <a:t>• Service_Booking: 16</a:t>
            </a:r>
            <a:endParaRPr lang="en-US" sz="1400" dirty="0"/>
          </a:p>
          <a:p>
            <a:pPr indent="0" marL="0">
              <a:buNone/>
            </a:pPr>
            <a:r>
              <a:rPr lang="en-US" sz="1400" dirty="0">
                <a:solidFill>
                  <a:srgbClr val="61706E"/>
                </a:solidFill>
              </a:rPr>
              <a:t>• Service_Delivery: 12</a:t>
            </a:r>
            <a:endParaRPr lang="en-US" sz="1400" dirty="0"/>
          </a:p>
          <a:p>
            <a:pPr indent="0" marL="0">
              <a:buNone/>
            </a:pPr>
            <a:r>
              <a:rPr lang="en-US" sz="1400" dirty="0">
                <a:solidFill>
                  <a:srgbClr val="61706E"/>
                </a:solidFill>
              </a:rPr>
              <a:t>• Payment: 7</a:t>
            </a:r>
            <a:endParaRPr lang="en-US" sz="1400" dirty="0"/>
          </a:p>
        </p:txBody>
      </p:sp>
      <p:sp>
        <p:nvSpPr>
          <p:cNvPr id="11" name="Text 8"/>
          <p:cNvSpPr/>
          <p:nvPr/>
        </p:nvSpPr>
        <p:spPr>
          <a:xfrm>
            <a:off x="502920" y="6537960"/>
            <a:ext cx="11155680" cy="146304"/>
          </a:xfrm>
          <a:prstGeom prst="rect">
            <a:avLst/>
          </a:prstGeom>
          <a:noFill/>
          <a:ln/>
        </p:spPr>
        <p:txBody>
          <a:bodyPr wrap="square" lIns="0" tIns="0" rIns="0" bIns="0" rtlCol="0" anchor="ctr"/>
          <a:lstStyle/>
          <a:p>
            <a:pPr indent="0" marL="0">
              <a:buNone/>
            </a:pPr>
            <a:r>
              <a:rPr lang="en-US" sz="750" dirty="0">
                <a:solidFill>
                  <a:srgbClr val="61706E"/>
                </a:solidFill>
                <a:latin typeface="Arial" pitchFamily="34" charset="0"/>
                <a:ea typeface="Arial" pitchFamily="34" charset="-122"/>
                <a:cs typeface="Arial" pitchFamily="34" charset="-120"/>
              </a:rPr>
              <a:t>PRT563 Advanced Data Management  ·  Darwin Group 7  ·  8</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1"/>
        </a:solidFill>
      </p:bgPr>
    </p:bg>
    <p:spTree>
      <p:nvGrpSpPr>
        <p:cNvPr id="1" name=""/>
        <p:cNvGrpSpPr/>
        <p:nvPr/>
      </p:nvGrpSpPr>
      <p:grpSpPr>
        <a:xfrm>
          <a:off x="0" y="0"/>
          <a:ext cx="0" cy="0"/>
          <a:chOff x="0" y="0"/>
          <a:chExt cx="0" cy="0"/>
        </a:xfrm>
      </p:grpSpPr>
      <p:sp>
        <p:nvSpPr>
          <p:cNvPr id="2" name="TextBox 1"/>
          <p:cNvSpPr txBox="1"/>
          <p:nvPr/>
        </p:nvSpPr>
        <p:spPr>
          <a:xfrm>
            <a:off x="502920" y="228600"/>
            <a:ext cx="10241280" cy="228600"/>
          </a:xfrm>
          <a:prstGeom prst="rect">
            <a:avLst/>
          </a:prstGeom>
          <a:noFill/>
        </p:spPr>
        <p:txBody>
          <a:bodyPr wrap="none">
            <a:spAutoFit/>
          </a:bodyPr>
          <a:lstStyle/>
          <a:p>
            <a:r>
              <a:rPr sz="1000" b="1">
                <a:solidFill>
                  <a:srgbClr val="00848F"/>
                </a:solidFill>
                <a:latin typeface="Aptos"/>
              </a:rPr>
              <a:t>SQL QUERIES</a:t>
            </a:r>
          </a:p>
        </p:txBody>
      </p:sp>
      <p:sp>
        <p:nvSpPr>
          <p:cNvPr id="3" name="TextBox 2"/>
          <p:cNvSpPr txBox="1"/>
          <p:nvPr/>
        </p:nvSpPr>
        <p:spPr>
          <a:xfrm>
            <a:off x="502920" y="438912"/>
            <a:ext cx="10241280" cy="411480"/>
          </a:xfrm>
          <a:prstGeom prst="rect">
            <a:avLst/>
          </a:prstGeom>
          <a:noFill/>
        </p:spPr>
        <p:txBody>
          <a:bodyPr wrap="none">
            <a:spAutoFit/>
          </a:bodyPr>
          <a:lstStyle/>
          <a:p>
            <a:r>
              <a:rPr sz="2400" b="1">
                <a:solidFill>
                  <a:srgbClr val="1E2630"/>
                </a:solidFill>
                <a:latin typeface="Aptos Display"/>
              </a:rPr>
              <a:t>Query use cases: simple SQL queries</a:t>
            </a:r>
          </a:p>
        </p:txBody>
      </p:sp>
      <p:sp>
        <p:nvSpPr>
          <p:cNvPr id="4" name="Rectangle 3"/>
          <p:cNvSpPr/>
          <p:nvPr/>
        </p:nvSpPr>
        <p:spPr>
          <a:xfrm>
            <a:off x="502920" y="987552"/>
            <a:ext cx="10241280" cy="13716"/>
          </a:xfrm>
          <a:prstGeom prst="rect">
            <a:avLst/>
          </a:prstGeom>
          <a:solidFill>
            <a:srgbClr val="C4C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37960"/>
            <a:ext cx="10241280" cy="164592"/>
          </a:xfrm>
          <a:prstGeom prst="rect">
            <a:avLst/>
          </a:prstGeom>
          <a:noFill/>
        </p:spPr>
        <p:txBody>
          <a:bodyPr wrap="none">
            <a:spAutoFit/>
          </a:bodyPr>
          <a:lstStyle/>
          <a:p>
            <a:pPr algn="ctr"/>
            <a:r>
              <a:rPr sz="800">
                <a:solidFill>
                  <a:srgbClr val="5C6975"/>
                </a:solidFill>
                <a:latin typeface="Aptos"/>
              </a:rPr>
              <a:t>PRT563 Advanced Data Management  ·  Darwin Group 7  ·  9</a:t>
            </a:r>
          </a:p>
        </p:txBody>
      </p:sp>
      <p:sp>
        <p:nvSpPr>
          <p:cNvPr id="6" name="Rectangle 5"/>
          <p:cNvSpPr/>
          <p:nvPr/>
        </p:nvSpPr>
        <p:spPr>
          <a:xfrm>
            <a:off x="5559552" y="1143000"/>
            <a:ext cx="13716" cy="5257800"/>
          </a:xfrm>
          <a:prstGeom prst="rect">
            <a:avLst/>
          </a:prstGeom>
          <a:solidFill>
            <a:srgbClr val="C4C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097280"/>
            <a:ext cx="4709160" cy="274320"/>
          </a:xfrm>
          <a:prstGeom prst="rect">
            <a:avLst/>
          </a:prstGeom>
          <a:noFill/>
        </p:spPr>
        <p:txBody>
          <a:bodyPr wrap="none">
            <a:spAutoFit/>
          </a:bodyPr>
          <a:lstStyle/>
          <a:p>
            <a:r>
              <a:rPr b="1" sz="1400">
                <a:solidFill>
                  <a:srgbClr val="1E2630"/>
                </a:solidFill>
              </a:rPr>
              <a:t>Query 1 — Simple query</a:t>
            </a:r>
          </a:p>
        </p:txBody>
      </p:sp>
      <p:sp>
        <p:nvSpPr>
          <p:cNvPr id="8" name="TextBox 7"/>
          <p:cNvSpPr txBox="1"/>
          <p:nvPr/>
        </p:nvSpPr>
        <p:spPr>
          <a:xfrm>
            <a:off x="594360" y="1417320"/>
            <a:ext cx="4754880" cy="475488"/>
          </a:xfrm>
          <a:prstGeom prst="rect">
            <a:avLst/>
          </a:prstGeom>
          <a:noFill/>
        </p:spPr>
        <p:txBody>
          <a:bodyPr wrap="square">
            <a:spAutoFit/>
          </a:bodyPr>
          <a:lstStyle/>
          <a:p>
            <a:r>
              <a:rPr b="1" sz="1000">
                <a:solidFill>
                  <a:srgbClr val="00848F"/>
                </a:solidFill>
                <a:latin typeface="Aptos"/>
              </a:rPr>
              <a:t>Scenario</a:t>
            </a:r>
          </a:p>
          <a:p>
            <a:pPr>
              <a:spcBef>
                <a:spcPts val="200"/>
              </a:spcBef>
            </a:pPr>
            <a:r>
              <a:rPr sz="960">
                <a:solidFill>
                  <a:srgbClr val="1E2630"/>
                </a:solidFill>
                <a:latin typeface="Aptos"/>
              </a:rPr>
              <a:t>List scheduled service bookings in September 2026 for selected workers 101, 102 and 106.</a:t>
            </a:r>
          </a:p>
        </p:txBody>
      </p:sp>
      <p:sp>
        <p:nvSpPr>
          <p:cNvPr id="9" name="Rounded Rectangle 8"/>
          <p:cNvSpPr/>
          <p:nvPr/>
        </p:nvSpPr>
        <p:spPr>
          <a:xfrm>
            <a:off x="594360" y="1956816"/>
            <a:ext cx="4754880" cy="1033271"/>
          </a:xfrm>
          <a:prstGeom prst="roundRect">
            <a:avLst/>
          </a:prstGeom>
          <a:solidFill>
            <a:srgbClr val="F4F7FA"/>
          </a:solidFill>
          <a:ln w="9525">
            <a:solidFill>
              <a:srgbClr val="C4CFDA"/>
            </a:solidFill>
          </a:ln>
        </p:spPr>
        <p:style>
          <a:lnRef idx="1">
            <a:schemeClr val="accent1"/>
          </a:lnRef>
          <a:fillRef idx="3">
            <a:schemeClr val="accent1"/>
          </a:fillRef>
          <a:effectRef idx="2">
            <a:schemeClr val="accent1"/>
          </a:effectRef>
          <a:fontRef idx="minor">
            <a:schemeClr val="lt1"/>
          </a:fontRef>
        </p:style>
        <p:txBody>
          <a:bodyPr rtlCol="0" anchor="ctr" lIns="64008" rIns="64008" wrap="square"/>
          <a:lstStyle/>
          <a:p>
            <a:pPr algn="ctr"/>
            <a:r>
              <a:rPr sz="630">
                <a:solidFill>
                  <a:srgbClr val="1E2630"/>
                </a:solidFill>
                <a:latin typeface="Consolas"/>
              </a:rPr>
              <a:t>SELECT booking_id, agreement_id, worker_person_id, service_type_id,
       scheduled_start, scheduled_end, booking_status
FROM Service_Booking
WHERE booking_status = 'Scheduled'
  AND scheduled_start BETWEEN '2026-09-09' AND '2026-09-30'
  AND worker_person_id IN (101,102,106);</a:t>
            </a:r>
          </a:p>
        </p:txBody>
      </p:sp>
      <p:sp>
        <p:nvSpPr>
          <p:cNvPr id="10" name="TextBox 9"/>
          <p:cNvSpPr txBox="1"/>
          <p:nvPr/>
        </p:nvSpPr>
        <p:spPr>
          <a:xfrm>
            <a:off x="594360" y="3090672"/>
            <a:ext cx="4754880" cy="347472"/>
          </a:xfrm>
          <a:prstGeom prst="rect">
            <a:avLst/>
          </a:prstGeom>
          <a:noFill/>
        </p:spPr>
        <p:txBody>
          <a:bodyPr wrap="square">
            <a:spAutoFit/>
          </a:bodyPr>
          <a:lstStyle/>
          <a:p>
            <a:r>
              <a:rPr b="1" sz="1000">
                <a:solidFill>
                  <a:srgbClr val="00848F"/>
                </a:solidFill>
                <a:latin typeface="Aptos"/>
              </a:rPr>
              <a:t>Query result</a:t>
            </a:r>
          </a:p>
          <a:p>
            <a:pPr>
              <a:spcBef>
                <a:spcPts val="200"/>
              </a:spcBef>
            </a:pPr>
            <a:r>
              <a:rPr sz="960">
                <a:solidFill>
                  <a:srgbClr val="1E2630"/>
                </a:solidFill>
                <a:latin typeface="Aptos"/>
              </a:rPr>
              <a:t>3 scheduled bookings returned.</a:t>
            </a:r>
          </a:p>
        </p:txBody>
      </p:sp>
      <p:pic>
        <p:nvPicPr>
          <p:cNvPr id="11" name="Picture 10" descr="Q1_result_only.png"/>
          <p:cNvPicPr>
            <a:picLocks noChangeAspect="1"/>
          </p:cNvPicPr>
          <p:nvPr/>
        </p:nvPicPr>
        <p:blipFill>
          <a:blip r:embed="rId5"/>
          <a:stretch>
            <a:fillRect/>
          </a:stretch>
        </p:blipFill>
        <p:spPr>
          <a:xfrm>
            <a:off x="594360" y="3474720"/>
            <a:ext cx="4754880" cy="530388"/>
          </a:xfrm>
          <a:prstGeom prst="rect">
            <a:avLst/>
          </a:prstGeom>
        </p:spPr>
      </p:pic>
      <p:sp>
        <p:nvSpPr>
          <p:cNvPr id="12" name="TextBox 11"/>
          <p:cNvSpPr txBox="1"/>
          <p:nvPr/>
        </p:nvSpPr>
        <p:spPr>
          <a:xfrm>
            <a:off x="594360" y="5715000"/>
            <a:ext cx="4754880" cy="384048"/>
          </a:xfrm>
          <a:prstGeom prst="rect">
            <a:avLst/>
          </a:prstGeom>
          <a:noFill/>
        </p:spPr>
        <p:txBody>
          <a:bodyPr wrap="square">
            <a:spAutoFit/>
          </a:bodyPr>
          <a:lstStyle/>
          <a:p>
            <a:r>
              <a:rPr b="1" sz="1000">
                <a:solidFill>
                  <a:srgbClr val="00848F"/>
                </a:solidFill>
                <a:latin typeface="Aptos"/>
              </a:rPr>
              <a:t>Practical purpose</a:t>
            </a:r>
          </a:p>
          <a:p>
            <a:pPr>
              <a:spcBef>
                <a:spcPts val="200"/>
              </a:spcBef>
            </a:pPr>
            <a:r>
              <a:rPr sz="960">
                <a:solidFill>
                  <a:srgbClr val="1E2630"/>
                </a:solidFill>
                <a:latin typeface="Aptos"/>
              </a:rPr>
              <a:t>Supports daily scheduling and workforce planning.</a:t>
            </a:r>
          </a:p>
        </p:txBody>
      </p:sp>
      <p:sp>
        <p:nvSpPr>
          <p:cNvPr id="13" name="TextBox 12"/>
          <p:cNvSpPr txBox="1"/>
          <p:nvPr/>
        </p:nvSpPr>
        <p:spPr>
          <a:xfrm>
            <a:off x="5806440" y="1097280"/>
            <a:ext cx="4709160" cy="274320"/>
          </a:xfrm>
          <a:prstGeom prst="rect">
            <a:avLst/>
          </a:prstGeom>
          <a:noFill/>
        </p:spPr>
        <p:txBody>
          <a:bodyPr wrap="none">
            <a:spAutoFit/>
          </a:bodyPr>
          <a:lstStyle/>
          <a:p>
            <a:r>
              <a:rPr b="1" sz="1400">
                <a:solidFill>
                  <a:srgbClr val="1E2630"/>
                </a:solidFill>
              </a:rPr>
              <a:t>Query 2 — Simple query</a:t>
            </a:r>
          </a:p>
        </p:txBody>
      </p:sp>
      <p:sp>
        <p:nvSpPr>
          <p:cNvPr id="14" name="TextBox 13"/>
          <p:cNvSpPr txBox="1"/>
          <p:nvPr/>
        </p:nvSpPr>
        <p:spPr>
          <a:xfrm>
            <a:off x="5806440" y="1417320"/>
            <a:ext cx="4754880" cy="475488"/>
          </a:xfrm>
          <a:prstGeom prst="rect">
            <a:avLst/>
          </a:prstGeom>
          <a:noFill/>
        </p:spPr>
        <p:txBody>
          <a:bodyPr wrap="square">
            <a:spAutoFit/>
          </a:bodyPr>
          <a:lstStyle/>
          <a:p>
            <a:r>
              <a:rPr b="1" sz="1000">
                <a:solidFill>
                  <a:srgbClr val="00848F"/>
                </a:solidFill>
                <a:latin typeface="Aptos"/>
              </a:rPr>
              <a:t>Scenario</a:t>
            </a:r>
          </a:p>
          <a:p>
            <a:pPr>
              <a:spcBef>
                <a:spcPts val="200"/>
              </a:spcBef>
            </a:pPr>
            <a:r>
              <a:rPr sz="960">
                <a:solidFill>
                  <a:srgbClr val="1E2630"/>
                </a:solidFill>
                <a:latin typeface="Aptos"/>
              </a:rPr>
              <a:t>Find active funding allocations above $17,000 where less than $5,000 has been used.</a:t>
            </a:r>
          </a:p>
        </p:txBody>
      </p:sp>
      <p:sp>
        <p:nvSpPr>
          <p:cNvPr id="15" name="Rounded Rectangle 14"/>
          <p:cNvSpPr/>
          <p:nvPr/>
        </p:nvSpPr>
        <p:spPr>
          <a:xfrm>
            <a:off x="5806440" y="1956816"/>
            <a:ext cx="4754880" cy="1033271"/>
          </a:xfrm>
          <a:prstGeom prst="roundRect">
            <a:avLst/>
          </a:prstGeom>
          <a:solidFill>
            <a:srgbClr val="F4F7FA"/>
          </a:solidFill>
          <a:ln w="9525">
            <a:solidFill>
              <a:srgbClr val="C4CFDA"/>
            </a:solidFill>
          </a:ln>
        </p:spPr>
        <p:style>
          <a:lnRef idx="1">
            <a:schemeClr val="accent1"/>
          </a:lnRef>
          <a:fillRef idx="3">
            <a:schemeClr val="accent1"/>
          </a:fillRef>
          <a:effectRef idx="2">
            <a:schemeClr val="accent1"/>
          </a:effectRef>
          <a:fontRef idx="minor">
            <a:schemeClr val="lt1"/>
          </a:fontRef>
        </p:style>
        <p:txBody>
          <a:bodyPr rtlCol="0" anchor="ctr" lIns="64008" rIns="64008" wrap="square"/>
          <a:lstStyle/>
          <a:p>
            <a:pPr algn="ctr"/>
            <a:r>
              <a:rPr sz="630">
                <a:solidFill>
                  <a:srgbClr val="1E2630"/>
                </a:solidFill>
                <a:latin typeface="Consolas"/>
              </a:rPr>
              <a:t>SELECT allocation_id, agreement_id, allocation_amount, amount_used,
       allocation_amount - amount_used AS remaining_balance,
       allocation_status
FROM Funding_Allocation
WHERE allocation_status = 'Active'
  AND allocation_amount &gt; 17000 AND amount_used &lt; 5000;</a:t>
            </a:r>
          </a:p>
        </p:txBody>
      </p:sp>
      <p:sp>
        <p:nvSpPr>
          <p:cNvPr id="16" name="TextBox 15"/>
          <p:cNvSpPr txBox="1"/>
          <p:nvPr/>
        </p:nvSpPr>
        <p:spPr>
          <a:xfrm>
            <a:off x="5806440" y="3090672"/>
            <a:ext cx="4754880" cy="347472"/>
          </a:xfrm>
          <a:prstGeom prst="rect">
            <a:avLst/>
          </a:prstGeom>
          <a:noFill/>
        </p:spPr>
        <p:txBody>
          <a:bodyPr wrap="square">
            <a:spAutoFit/>
          </a:bodyPr>
          <a:lstStyle/>
          <a:p>
            <a:r>
              <a:rPr b="1" sz="1000">
                <a:solidFill>
                  <a:srgbClr val="00848F"/>
                </a:solidFill>
                <a:latin typeface="Aptos"/>
              </a:rPr>
              <a:t>Query result</a:t>
            </a:r>
          </a:p>
          <a:p>
            <a:pPr>
              <a:spcBef>
                <a:spcPts val="200"/>
              </a:spcBef>
            </a:pPr>
            <a:r>
              <a:rPr sz="960">
                <a:solidFill>
                  <a:srgbClr val="1E2630"/>
                </a:solidFill>
                <a:latin typeface="Aptos"/>
              </a:rPr>
              <a:t>5 active allocations returned with remaining balances.</a:t>
            </a:r>
          </a:p>
        </p:txBody>
      </p:sp>
      <p:pic>
        <p:nvPicPr>
          <p:cNvPr id="17" name="Picture 16" descr="Q2_result_only.png"/>
          <p:cNvPicPr>
            <a:picLocks noChangeAspect="1"/>
          </p:cNvPicPr>
          <p:nvPr/>
        </p:nvPicPr>
        <p:blipFill>
          <a:blip r:embed="rId6"/>
          <a:stretch>
            <a:fillRect/>
          </a:stretch>
        </p:blipFill>
        <p:spPr>
          <a:xfrm>
            <a:off x="5806440" y="3474720"/>
            <a:ext cx="4754880" cy="855583"/>
          </a:xfrm>
          <a:prstGeom prst="rect">
            <a:avLst/>
          </a:prstGeom>
        </p:spPr>
      </p:pic>
      <p:sp>
        <p:nvSpPr>
          <p:cNvPr id="18" name="TextBox 17"/>
          <p:cNvSpPr txBox="1"/>
          <p:nvPr/>
        </p:nvSpPr>
        <p:spPr>
          <a:xfrm>
            <a:off x="5806440" y="5715000"/>
            <a:ext cx="4754880" cy="384048"/>
          </a:xfrm>
          <a:prstGeom prst="rect">
            <a:avLst/>
          </a:prstGeom>
          <a:noFill/>
        </p:spPr>
        <p:txBody>
          <a:bodyPr wrap="square">
            <a:spAutoFit/>
          </a:bodyPr>
          <a:lstStyle/>
          <a:p>
            <a:r>
              <a:rPr b="1" sz="1000">
                <a:solidFill>
                  <a:srgbClr val="00848F"/>
                </a:solidFill>
                <a:latin typeface="Aptos"/>
              </a:rPr>
              <a:t>Practical purpose</a:t>
            </a:r>
          </a:p>
          <a:p>
            <a:pPr>
              <a:spcBef>
                <a:spcPts val="200"/>
              </a:spcBef>
            </a:pPr>
            <a:r>
              <a:rPr sz="960">
                <a:solidFill>
                  <a:srgbClr val="1E2630"/>
                </a:solidFill>
                <a:latin typeface="Aptos"/>
              </a:rPr>
              <a:t>Helps coordinators monitor funding and remaining budget.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6F1"/>
        </a:solidFill>
      </p:bgPr>
    </p:bg>
    <p:spTree>
      <p:nvGrpSpPr>
        <p:cNvPr id="1" name=""/>
        <p:cNvGrpSpPr/>
        <p:nvPr/>
      </p:nvGrpSpPr>
      <p:grpSpPr>
        <a:xfrm>
          <a:off x="0" y="0"/>
          <a:ext cx="0" cy="0"/>
          <a:chOff x="0" y="0"/>
          <a:chExt cx="0" cy="0"/>
        </a:xfrm>
      </p:grpSpPr>
      <p:sp>
        <p:nvSpPr>
          <p:cNvPr id="2" name="TextBox 1"/>
          <p:cNvSpPr txBox="1"/>
          <p:nvPr/>
        </p:nvSpPr>
        <p:spPr>
          <a:xfrm>
            <a:off x="502920" y="228600"/>
            <a:ext cx="10241280" cy="228600"/>
          </a:xfrm>
          <a:prstGeom prst="rect">
            <a:avLst/>
          </a:prstGeom>
          <a:noFill/>
        </p:spPr>
        <p:txBody>
          <a:bodyPr wrap="none">
            <a:spAutoFit/>
          </a:bodyPr>
          <a:lstStyle/>
          <a:p>
            <a:r>
              <a:rPr sz="1000" b="1">
                <a:solidFill>
                  <a:srgbClr val="00848F"/>
                </a:solidFill>
                <a:latin typeface="Aptos"/>
              </a:rPr>
              <a:t>SQL QUERIES</a:t>
            </a:r>
          </a:p>
        </p:txBody>
      </p:sp>
      <p:sp>
        <p:nvSpPr>
          <p:cNvPr id="3" name="TextBox 2"/>
          <p:cNvSpPr txBox="1"/>
          <p:nvPr/>
        </p:nvSpPr>
        <p:spPr>
          <a:xfrm>
            <a:off x="502920" y="438912"/>
            <a:ext cx="10241280" cy="411480"/>
          </a:xfrm>
          <a:prstGeom prst="rect">
            <a:avLst/>
          </a:prstGeom>
          <a:noFill/>
        </p:spPr>
        <p:txBody>
          <a:bodyPr wrap="none">
            <a:spAutoFit/>
          </a:bodyPr>
          <a:lstStyle/>
          <a:p>
            <a:r>
              <a:rPr sz="2400" b="1">
                <a:solidFill>
                  <a:srgbClr val="1E2630"/>
                </a:solidFill>
                <a:latin typeface="Aptos Display"/>
              </a:rPr>
              <a:t>Query 3: moderately complex JOIN query</a:t>
            </a:r>
          </a:p>
        </p:txBody>
      </p:sp>
      <p:sp>
        <p:nvSpPr>
          <p:cNvPr id="4" name="Rectangle 3"/>
          <p:cNvSpPr/>
          <p:nvPr/>
        </p:nvSpPr>
        <p:spPr>
          <a:xfrm>
            <a:off x="502920" y="987552"/>
            <a:ext cx="10241280" cy="13716"/>
          </a:xfrm>
          <a:prstGeom prst="rect">
            <a:avLst/>
          </a:prstGeom>
          <a:solidFill>
            <a:srgbClr val="C4C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37960"/>
            <a:ext cx="10241280" cy="164592"/>
          </a:xfrm>
          <a:prstGeom prst="rect">
            <a:avLst/>
          </a:prstGeom>
          <a:noFill/>
        </p:spPr>
        <p:txBody>
          <a:bodyPr wrap="none">
            <a:spAutoFit/>
          </a:bodyPr>
          <a:lstStyle/>
          <a:p>
            <a:pPr algn="ctr"/>
            <a:r>
              <a:rPr sz="800">
                <a:solidFill>
                  <a:srgbClr val="5C6975"/>
                </a:solidFill>
                <a:latin typeface="Aptos"/>
              </a:rPr>
              <a:t>PRT563 Advanced Data Management  ·  Darwin Group 7  ·  10</a:t>
            </a:r>
          </a:p>
        </p:txBody>
      </p:sp>
      <p:pic>
        <p:nvPicPr>
          <p:cNvPr id="6" name="Picture 5" descr="image.png"/>
          <p:cNvPicPr>
            <a:picLocks noChangeAspect="1"/>
          </p:cNvPicPr>
          <p:nvPr/>
        </p:nvPicPr>
        <p:blipFill>
          <a:blip r:embed="rId1"/>
          <a:stretch>
            <a:fillRect/>
          </a:stretch>
        </p:blipFill>
        <p:spPr>
          <a:xfrm>
            <a:off x="548640" y="1143000"/>
            <a:ext cx="5989320" cy="4264201"/>
          </a:xfrm>
          <a:prstGeom prst="rect">
            <a:avLst/>
          </a:prstGeom>
        </p:spPr>
      </p:pic>
      <p:sp>
        <p:nvSpPr>
          <p:cNvPr id="7" name="TextBox 6"/>
          <p:cNvSpPr txBox="1"/>
          <p:nvPr/>
        </p:nvSpPr>
        <p:spPr>
          <a:xfrm>
            <a:off x="6720840" y="1124712"/>
            <a:ext cx="3794760" cy="685800"/>
          </a:xfrm>
          <a:prstGeom prst="rect">
            <a:avLst/>
          </a:prstGeom>
          <a:noFill/>
        </p:spPr>
        <p:txBody>
          <a:bodyPr wrap="square">
            <a:spAutoFit/>
          </a:bodyPr>
          <a:lstStyle/>
          <a:p>
            <a:r>
              <a:rPr b="1" sz="1000">
                <a:solidFill>
                  <a:srgbClr val="00848F"/>
                </a:solidFill>
                <a:latin typeface="Aptos"/>
              </a:rPr>
              <a:t>Scenario</a:t>
            </a:r>
          </a:p>
          <a:p>
            <a:pPr>
              <a:spcBef>
                <a:spcPts val="200"/>
              </a:spcBef>
            </a:pPr>
            <a:r>
              <a:rPr sz="1000">
                <a:solidFill>
                  <a:srgbClr val="1E2630"/>
                </a:solidFill>
                <a:latin typeface="Aptos"/>
              </a:rPr>
              <a:t>Count each client’s service agreements and bookings, including clients with no agreement or booking records.</a:t>
            </a:r>
          </a:p>
        </p:txBody>
      </p:sp>
      <p:sp>
        <p:nvSpPr>
          <p:cNvPr id="8" name="Rounded Rectangle 7"/>
          <p:cNvSpPr/>
          <p:nvPr/>
        </p:nvSpPr>
        <p:spPr>
          <a:xfrm>
            <a:off x="6720840" y="1965960"/>
            <a:ext cx="3794760" cy="1463040"/>
          </a:xfrm>
          <a:prstGeom prst="roundRect">
            <a:avLst/>
          </a:prstGeom>
          <a:solidFill>
            <a:srgbClr val="F4F7FA"/>
          </a:solidFill>
          <a:ln w="9525">
            <a:solidFill>
              <a:srgbClr val="C4CFDA"/>
            </a:solidFill>
          </a:ln>
        </p:spPr>
        <p:style>
          <a:lnRef idx="1">
            <a:schemeClr val="accent1"/>
          </a:lnRef>
          <a:fillRef idx="3">
            <a:schemeClr val="accent1"/>
          </a:fillRef>
          <a:effectRef idx="2">
            <a:schemeClr val="accent1"/>
          </a:effectRef>
          <a:fontRef idx="minor">
            <a:schemeClr val="lt1"/>
          </a:fontRef>
        </p:style>
        <p:txBody>
          <a:bodyPr rtlCol="0" anchor="ctr" lIns="64008" rIns="64008" wrap="square"/>
          <a:lstStyle/>
          <a:p>
            <a:pPr algn="ctr"/>
            <a:r>
              <a:rPr sz="650">
                <a:solidFill>
                  <a:srgbClr val="1E2630"/>
                </a:solidFill>
                <a:latin typeface="Consolas"/>
              </a:rPr>
              <a:t>FROM Client c
JOIN Person p ON c.person_id = p.person_id
LEFT OUTER JOIN Service_Agreement sa
  ON c.person_id = sa.client_person_id
LEFT OUTER JOIN Service_Booking sb
  ON sa.agreement_id = sb.agreement_id
GROUP BY c.person_id;</a:t>
            </a:r>
          </a:p>
        </p:txBody>
      </p:sp>
      <p:sp>
        <p:nvSpPr>
          <p:cNvPr id="9" name="TextBox 8"/>
          <p:cNvSpPr txBox="1"/>
          <p:nvPr/>
        </p:nvSpPr>
        <p:spPr>
          <a:xfrm>
            <a:off x="6720840" y="3611880"/>
            <a:ext cx="3794760" cy="777240"/>
          </a:xfrm>
          <a:prstGeom prst="rect">
            <a:avLst/>
          </a:prstGeom>
          <a:noFill/>
        </p:spPr>
        <p:txBody>
          <a:bodyPr wrap="square">
            <a:spAutoFit/>
          </a:bodyPr>
          <a:lstStyle/>
          <a:p>
            <a:r>
              <a:rPr b="1" sz="1000">
                <a:solidFill>
                  <a:srgbClr val="00848F"/>
                </a:solidFill>
                <a:latin typeface="Aptos"/>
              </a:rPr>
              <a:t>Query result</a:t>
            </a:r>
          </a:p>
          <a:p>
            <a:pPr>
              <a:spcBef>
                <a:spcPts val="200"/>
              </a:spcBef>
            </a:pPr>
            <a:r>
              <a:rPr sz="930">
                <a:solidFill>
                  <a:srgbClr val="1E2630"/>
                </a:solidFill>
                <a:latin typeface="Aptos"/>
              </a:rPr>
              <a:t>All 8 clients remain visible. David Turner appears with 0 agreements and 0 bookings, showing why LEFT OUTER JOIN is appropriate.</a:t>
            </a:r>
          </a:p>
        </p:txBody>
      </p:sp>
      <p:sp>
        <p:nvSpPr>
          <p:cNvPr id="10" name="TextBox 9"/>
          <p:cNvSpPr txBox="1"/>
          <p:nvPr/>
        </p:nvSpPr>
        <p:spPr>
          <a:xfrm>
            <a:off x="6720840" y="4645152"/>
            <a:ext cx="3794760" cy="594360"/>
          </a:xfrm>
          <a:prstGeom prst="rect">
            <a:avLst/>
          </a:prstGeom>
          <a:noFill/>
        </p:spPr>
        <p:txBody>
          <a:bodyPr wrap="square">
            <a:spAutoFit/>
          </a:bodyPr>
          <a:lstStyle/>
          <a:p>
            <a:r>
              <a:rPr b="1" sz="1000">
                <a:solidFill>
                  <a:srgbClr val="00848F"/>
                </a:solidFill>
                <a:latin typeface="Aptos"/>
              </a:rPr>
              <a:t>Practical purpose</a:t>
            </a:r>
          </a:p>
          <a:p>
            <a:pPr>
              <a:spcBef>
                <a:spcPts val="200"/>
              </a:spcBef>
            </a:pPr>
            <a:r>
              <a:rPr sz="930">
                <a:solidFill>
                  <a:srgbClr val="1E2630"/>
                </a:solidFill>
                <a:latin typeface="Aptos"/>
              </a:rPr>
              <a:t>Identifies clients with low or no service engagement so coordinators can follow up.</a:t>
            </a:r>
          </a:p>
        </p:txBody>
      </p:sp>
      <p:sp>
        <p:nvSpPr>
          <p:cNvPr id="11" name="Rounded Rectangle 10"/>
          <p:cNvSpPr/>
          <p:nvPr/>
        </p:nvSpPr>
        <p:spPr>
          <a:xfrm>
            <a:off x="548640" y="5650992"/>
            <a:ext cx="5989320" cy="384048"/>
          </a:xfrm>
          <a:prstGeom prst="roundRect">
            <a:avLst/>
          </a:prstGeom>
          <a:solidFill>
            <a:srgbClr val="FAF8DB"/>
          </a:solidFill>
          <a:ln w="9525">
            <a:solidFill>
              <a:srgbClr val="DBCB78"/>
            </a:solidFill>
          </a:ln>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r>
              <a:rPr sz="919">
                <a:solidFill>
                  <a:srgbClr val="1E2630"/>
                </a:solidFill>
                <a:latin typeface="Aptos"/>
              </a:rPr>
              <a:t>Evidence: David Turner is included with 0 / 0 because the query uses LEFT OUTER JOIN.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6F1"/>
        </a:solidFill>
      </p:bgPr>
    </p:bg>
    <p:spTree>
      <p:nvGrpSpPr>
        <p:cNvPr id="1" name=""/>
        <p:cNvGrpSpPr/>
        <p:nvPr/>
      </p:nvGrpSpPr>
      <p:grpSpPr>
        <a:xfrm>
          <a:off x="0" y="0"/>
          <a:ext cx="0" cy="0"/>
          <a:chOff x="0" y="0"/>
          <a:chExt cx="0" cy="0"/>
        </a:xfrm>
      </p:grpSpPr>
      <p:sp>
        <p:nvSpPr>
          <p:cNvPr id="2" name="TextBox 1"/>
          <p:cNvSpPr txBox="1"/>
          <p:nvPr/>
        </p:nvSpPr>
        <p:spPr>
          <a:xfrm>
            <a:off x="502920" y="228600"/>
            <a:ext cx="10241280" cy="228600"/>
          </a:xfrm>
          <a:prstGeom prst="rect">
            <a:avLst/>
          </a:prstGeom>
          <a:noFill/>
        </p:spPr>
        <p:txBody>
          <a:bodyPr wrap="none">
            <a:spAutoFit/>
          </a:bodyPr>
          <a:lstStyle/>
          <a:p>
            <a:r>
              <a:rPr sz="1000" b="1">
                <a:solidFill>
                  <a:srgbClr val="00848F"/>
                </a:solidFill>
                <a:latin typeface="Aptos"/>
              </a:rPr>
              <a:t>SQL QUERIES</a:t>
            </a:r>
          </a:p>
        </p:txBody>
      </p:sp>
      <p:sp>
        <p:nvSpPr>
          <p:cNvPr id="3" name="TextBox 2"/>
          <p:cNvSpPr txBox="1"/>
          <p:nvPr/>
        </p:nvSpPr>
        <p:spPr>
          <a:xfrm>
            <a:off x="502920" y="438912"/>
            <a:ext cx="10241280" cy="411480"/>
          </a:xfrm>
          <a:prstGeom prst="rect">
            <a:avLst/>
          </a:prstGeom>
          <a:noFill/>
        </p:spPr>
        <p:txBody>
          <a:bodyPr wrap="none">
            <a:spAutoFit/>
          </a:bodyPr>
          <a:lstStyle/>
          <a:p>
            <a:r>
              <a:rPr sz="2400" b="1">
                <a:solidFill>
                  <a:srgbClr val="1E2630"/>
                </a:solidFill>
                <a:latin typeface="Aptos Display"/>
              </a:rPr>
              <a:t>Query 4: complex subquery + aggregate</a:t>
            </a:r>
          </a:p>
        </p:txBody>
      </p:sp>
      <p:sp>
        <p:nvSpPr>
          <p:cNvPr id="4" name="Rectangle 3"/>
          <p:cNvSpPr/>
          <p:nvPr/>
        </p:nvSpPr>
        <p:spPr>
          <a:xfrm>
            <a:off x="502920" y="987552"/>
            <a:ext cx="10241280" cy="13716"/>
          </a:xfrm>
          <a:prstGeom prst="rect">
            <a:avLst/>
          </a:prstGeom>
          <a:solidFill>
            <a:srgbClr val="C4C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37960"/>
            <a:ext cx="10241280" cy="164592"/>
          </a:xfrm>
          <a:prstGeom prst="rect">
            <a:avLst/>
          </a:prstGeom>
          <a:noFill/>
        </p:spPr>
        <p:txBody>
          <a:bodyPr wrap="none">
            <a:spAutoFit/>
          </a:bodyPr>
          <a:lstStyle/>
          <a:p>
            <a:pPr algn="ctr"/>
            <a:r>
              <a:rPr sz="800">
                <a:solidFill>
                  <a:srgbClr val="5C6975"/>
                </a:solidFill>
                <a:latin typeface="Aptos"/>
              </a:rPr>
              <a:t>PRT563 Advanced Data Management  ·  Darwin Group 7  ·  11</a:t>
            </a:r>
          </a:p>
        </p:txBody>
      </p:sp>
      <p:pic>
        <p:nvPicPr>
          <p:cNvPr id="6" name="Picture 5" descr="image.png"/>
          <p:cNvPicPr>
            <a:picLocks noChangeAspect="1"/>
          </p:cNvPicPr>
          <p:nvPr/>
        </p:nvPicPr>
        <p:blipFill>
          <a:blip r:embed="rId1"/>
          <a:stretch>
            <a:fillRect/>
          </a:stretch>
        </p:blipFill>
        <p:spPr>
          <a:xfrm>
            <a:off x="548640" y="1143000"/>
            <a:ext cx="5715000" cy="3069368"/>
          </a:xfrm>
          <a:prstGeom prst="rect">
            <a:avLst/>
          </a:prstGeom>
        </p:spPr>
      </p:pic>
      <p:sp>
        <p:nvSpPr>
          <p:cNvPr id="7" name="TextBox 6"/>
          <p:cNvSpPr txBox="1"/>
          <p:nvPr/>
        </p:nvSpPr>
        <p:spPr>
          <a:xfrm>
            <a:off x="6492240" y="1124712"/>
            <a:ext cx="4069080" cy="685800"/>
          </a:xfrm>
          <a:prstGeom prst="rect">
            <a:avLst/>
          </a:prstGeom>
          <a:noFill/>
        </p:spPr>
        <p:txBody>
          <a:bodyPr wrap="square">
            <a:spAutoFit/>
          </a:bodyPr>
          <a:lstStyle/>
          <a:p>
            <a:r>
              <a:rPr b="1" sz="1000">
                <a:solidFill>
                  <a:srgbClr val="00848F"/>
                </a:solidFill>
                <a:latin typeface="Aptos"/>
              </a:rPr>
              <a:t>Scenario</a:t>
            </a:r>
          </a:p>
          <a:p>
            <a:pPr>
              <a:spcBef>
                <a:spcPts val="200"/>
              </a:spcBef>
            </a:pPr>
            <a:r>
              <a:rPr sz="1000">
                <a:solidFill>
                  <a:srgbClr val="1E2630"/>
                </a:solidFill>
                <a:latin typeface="Aptos"/>
              </a:rPr>
              <a:t>Find support workers whose service-delivery count is above the average across all workers.</a:t>
            </a:r>
          </a:p>
        </p:txBody>
      </p:sp>
      <p:sp>
        <p:nvSpPr>
          <p:cNvPr id="8" name="Rounded Rectangle 7"/>
          <p:cNvSpPr/>
          <p:nvPr/>
        </p:nvSpPr>
        <p:spPr>
          <a:xfrm>
            <a:off x="6492240" y="1965960"/>
            <a:ext cx="4069080" cy="1572768"/>
          </a:xfrm>
          <a:prstGeom prst="roundRect">
            <a:avLst/>
          </a:prstGeom>
          <a:solidFill>
            <a:srgbClr val="F4F7FA"/>
          </a:solidFill>
          <a:ln w="9525">
            <a:solidFill>
              <a:srgbClr val="C4CFDA"/>
            </a:solidFill>
          </a:ln>
        </p:spPr>
        <p:style>
          <a:lnRef idx="1">
            <a:schemeClr val="accent1"/>
          </a:lnRef>
          <a:fillRef idx="3">
            <a:schemeClr val="accent1"/>
          </a:fillRef>
          <a:effectRef idx="2">
            <a:schemeClr val="accent1"/>
          </a:effectRef>
          <a:fontRef idx="minor">
            <a:schemeClr val="lt1"/>
          </a:fontRef>
        </p:style>
        <p:txBody>
          <a:bodyPr rtlCol="0" anchor="ctr" lIns="64008" rIns="64008" wrap="square"/>
          <a:lstStyle/>
          <a:p>
            <a:pPr algn="ctr"/>
            <a:r>
              <a:rPr sz="650">
                <a:solidFill>
                  <a:srgbClr val="1E2630"/>
                </a:solidFill>
                <a:latin typeface="Consolas"/>
              </a:rPr>
              <a:t>SELECT worker_id, worker_name, employment_status,
       COUNT(delivery_id) AS total_deliveries
FROM Support_Worker
LEFT JOIN Service_Booking
LEFT JOIN Service_Delivery
GROUP BY worker_id
HAVING COUNT(delivery_id) &gt; (
  SELECT AVG(delivery_count) FROM (...));</a:t>
            </a:r>
          </a:p>
        </p:txBody>
      </p:sp>
      <p:sp>
        <p:nvSpPr>
          <p:cNvPr id="9" name="TextBox 8"/>
          <p:cNvSpPr txBox="1"/>
          <p:nvPr/>
        </p:nvSpPr>
        <p:spPr>
          <a:xfrm>
            <a:off x="6492240" y="3703320"/>
            <a:ext cx="4069080" cy="640080"/>
          </a:xfrm>
          <a:prstGeom prst="rect">
            <a:avLst/>
          </a:prstGeom>
          <a:noFill/>
        </p:spPr>
        <p:txBody>
          <a:bodyPr wrap="square">
            <a:spAutoFit/>
          </a:bodyPr>
          <a:lstStyle/>
          <a:p>
            <a:r>
              <a:rPr b="1" sz="1000">
                <a:solidFill>
                  <a:srgbClr val="00848F"/>
                </a:solidFill>
                <a:latin typeface="Aptos"/>
              </a:rPr>
              <a:t>Query result</a:t>
            </a:r>
          </a:p>
          <a:p>
            <a:pPr>
              <a:spcBef>
                <a:spcPts val="200"/>
              </a:spcBef>
            </a:pPr>
            <a:r>
              <a:rPr sz="930">
                <a:solidFill>
                  <a:srgbClr val="1E2630"/>
                </a:solidFill>
                <a:latin typeface="Aptos"/>
              </a:rPr>
              <a:t>Emma Nguyen is returned with 3 deliveries, indicating above-average service-delivery workload.</a:t>
            </a:r>
          </a:p>
        </p:txBody>
      </p:sp>
      <p:sp>
        <p:nvSpPr>
          <p:cNvPr id="10" name="TextBox 9"/>
          <p:cNvSpPr txBox="1"/>
          <p:nvPr/>
        </p:nvSpPr>
        <p:spPr>
          <a:xfrm>
            <a:off x="6492240" y="4526280"/>
            <a:ext cx="4069080" cy="594360"/>
          </a:xfrm>
          <a:prstGeom prst="rect">
            <a:avLst/>
          </a:prstGeom>
          <a:noFill/>
        </p:spPr>
        <p:txBody>
          <a:bodyPr wrap="square">
            <a:spAutoFit/>
          </a:bodyPr>
          <a:lstStyle/>
          <a:p>
            <a:r>
              <a:rPr b="1" sz="1000">
                <a:solidFill>
                  <a:srgbClr val="00848F"/>
                </a:solidFill>
                <a:latin typeface="Aptos"/>
              </a:rPr>
              <a:t>Practical purpose</a:t>
            </a:r>
          </a:p>
          <a:p>
            <a:pPr>
              <a:spcBef>
                <a:spcPts val="200"/>
              </a:spcBef>
            </a:pPr>
            <a:r>
              <a:rPr sz="930">
                <a:solidFill>
                  <a:srgbClr val="1E2630"/>
                </a:solidFill>
                <a:latin typeface="Aptos"/>
              </a:rPr>
              <a:t>Supports workload monitoring and helps managers balance future worker assignments.</a:t>
            </a:r>
          </a:p>
        </p:txBody>
      </p:sp>
      <p:sp>
        <p:nvSpPr>
          <p:cNvPr id="11" name="Rounded Rectangle 10"/>
          <p:cNvSpPr/>
          <p:nvPr/>
        </p:nvSpPr>
        <p:spPr>
          <a:xfrm>
            <a:off x="548640" y="5394960"/>
            <a:ext cx="10012680" cy="658368"/>
          </a:xfrm>
          <a:prstGeom prst="roundRect">
            <a:avLst/>
          </a:prstGeom>
          <a:solidFill>
            <a:srgbClr val="F4F7FA"/>
          </a:solidFill>
          <a:ln w="9525">
            <a:solidFill>
              <a:srgbClr val="C4CFD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19">
                <a:solidFill>
                  <a:srgbClr val="1E2630"/>
                </a:solidFill>
                <a:latin typeface="Aptos"/>
              </a:rPr>
              <a:t>Integrity note: UNIQUE(booking_id) prevents multiple delivery records for one booking; UNIQUE(delivery_id) prevents the same service delivery being billed twice; /invoice_total is derived from INVOICE_LINE.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502920" y="256032"/>
            <a:ext cx="11155680" cy="201168"/>
          </a:xfrm>
          <a:prstGeom prst="rect">
            <a:avLst/>
          </a:prstGeom>
          <a:noFill/>
          <a:ln/>
        </p:spPr>
        <p:txBody>
          <a:bodyPr wrap="square" lIns="0" tIns="0" rIns="0" bIns="0" rtlCol="0" anchor="ctr"/>
          <a:lstStyle/>
          <a:p>
            <a:pPr indent="0" marL="0">
              <a:buNone/>
            </a:pPr>
            <a:r>
              <a:rPr lang="en-US" sz="850" b="1" dirty="0">
                <a:solidFill>
                  <a:srgbClr val="61706E"/>
                </a:solidFill>
                <a:latin typeface="Arial" pitchFamily="34" charset="0"/>
                <a:ea typeface="Arial" pitchFamily="34" charset="-122"/>
                <a:cs typeface="Arial" pitchFamily="34" charset="-120"/>
              </a:rPr>
              <a:t>FINAL CHECKS</a:t>
            </a:r>
            <a:endParaRPr lang="en-US" sz="850" dirty="0"/>
          </a:p>
        </p:txBody>
      </p:sp>
      <p:sp>
        <p:nvSpPr>
          <p:cNvPr id="3" name="Text 1"/>
          <p:cNvSpPr/>
          <p:nvPr/>
        </p:nvSpPr>
        <p:spPr>
          <a:xfrm>
            <a:off x="502920" y="475488"/>
            <a:ext cx="11155680" cy="438912"/>
          </a:xfrm>
          <a:prstGeom prst="rect">
            <a:avLst/>
          </a:prstGeom>
          <a:noFill/>
          <a:ln/>
        </p:spPr>
        <p:txBody>
          <a:bodyPr wrap="square" lIns="0" tIns="0" rIns="0" bIns="0" rtlCol="0" anchor="ctr">
            <a:normAutofit/>
          </a:bodyPr>
          <a:lstStyle/>
          <a:p>
            <a:pPr indent="0" marL="0">
              <a:buNone/>
            </a:pPr>
            <a:r>
              <a:rPr lang="en-US" sz="2500" b="1" dirty="0">
                <a:solidFill>
                  <a:srgbClr val="1A2B2B"/>
                </a:solidFill>
                <a:latin typeface="Arial" pitchFamily="34" charset="0"/>
                <a:ea typeface="Arial" pitchFamily="34" charset="-122"/>
                <a:cs typeface="Arial" pitchFamily="34" charset="-120"/>
              </a:rPr>
              <a:t>Update demonstration, limitations and conclusion</a:t>
            </a:r>
            <a:endParaRPr lang="en-US" sz="2500" dirty="0"/>
          </a:p>
        </p:txBody>
      </p:sp>
      <p:sp>
        <p:nvSpPr>
          <p:cNvPr id="4" name="Shape 2"/>
          <p:cNvSpPr/>
          <p:nvPr/>
        </p:nvSpPr>
        <p:spPr>
          <a:xfrm>
            <a:off x="502920" y="1005840"/>
            <a:ext cx="11155680" cy="0"/>
          </a:xfrm>
          <a:prstGeom prst="line">
            <a:avLst/>
          </a:prstGeom>
          <a:noFill/>
          <a:ln w="10160">
            <a:solidFill>
              <a:srgbClr val="B8C2BE"/>
            </a:solidFill>
            <a:prstDash val="solid"/>
          </a:ln>
        </p:spPr>
        <p:txBody>
          <a:bodyPr/>
          <a:p/>
        </p:txBody>
      </p:sp>
      <p:sp>
        <p:nvSpPr>
          <p:cNvPr id="5" name="Shape 3"/>
          <p:cNvSpPr/>
          <p:nvPr/>
        </p:nvSpPr>
        <p:spPr>
          <a:xfrm>
            <a:off x="502920" y="1143000"/>
            <a:ext cx="5715000" cy="3749040"/>
          </a:xfrm>
          <a:prstGeom prst="rect">
            <a:avLst/>
          </a:prstGeom>
          <a:solidFill>
            <a:srgbClr val="FFFFFF"/>
          </a:solidFill>
          <a:ln w="7620">
            <a:solidFill>
              <a:srgbClr val="B8C2BE"/>
            </a:solidFill>
            <a:prstDash val="solid"/>
          </a:ln>
        </p:spPr>
        <p:txBody>
          <a:bodyPr/>
          <a:p/>
        </p:txBody>
      </p:sp>
      <p:pic>
        <p:nvPicPr>
          <p:cNvPr id="6" name="Image 0" descr="/mnt/data/update demonstrate 1.1.png">    </p:cNvPr>
          <p:cNvPicPr>
            <a:picLocks noChangeAspect="1"/>
          </p:cNvPicPr>
          <p:nvPr/>
        </p:nvPicPr>
        <p:blipFill>
          <a:blip r:embed="rId1"/>
          <a:stretch>
            <a:fillRect/>
          </a:stretch>
        </p:blipFill>
        <p:spPr>
          <a:xfrm>
            <a:off x="557784" y="1451817"/>
            <a:ext cx="5605272" cy="3131407"/>
          </a:xfrm>
          <a:prstGeom prst="rect">
            <a:avLst/>
          </a:prstGeom>
        </p:spPr>
      </p:pic>
      <p:sp>
        <p:nvSpPr>
          <p:cNvPr id="7" name="Shape 4"/>
          <p:cNvSpPr/>
          <p:nvPr/>
        </p:nvSpPr>
        <p:spPr>
          <a:xfrm>
            <a:off x="6537960" y="1380744"/>
            <a:ext cx="9144" cy="896112"/>
          </a:xfrm>
          <a:prstGeom prst="line">
            <a:avLst/>
          </a:prstGeom>
          <a:noFill/>
          <a:ln w="38100">
            <a:solidFill>
              <a:srgbClr val="2CA58D"/>
            </a:solidFill>
            <a:prstDash val="solid"/>
          </a:ln>
        </p:spPr>
        <p:txBody>
          <a:bodyPr/>
          <a:p/>
        </p:txBody>
      </p:sp>
      <p:sp>
        <p:nvSpPr>
          <p:cNvPr id="8" name="Text 5"/>
          <p:cNvSpPr/>
          <p:nvPr/>
        </p:nvSpPr>
        <p:spPr>
          <a:xfrm>
            <a:off x="6675120" y="1325880"/>
            <a:ext cx="4572000" cy="246888"/>
          </a:xfrm>
          <a:prstGeom prst="rect">
            <a:avLst/>
          </a:prstGeom>
          <a:noFill/>
          <a:ln/>
        </p:spPr>
        <p:txBody>
          <a:bodyPr wrap="square" lIns="0" tIns="0" rIns="0" bIns="0" rtlCol="0" anchor="ctr"/>
          <a:lstStyle/>
          <a:p>
            <a:pPr indent="0" marL="0">
              <a:buNone/>
            </a:pPr>
            <a:r>
              <a:rPr lang="en-US" sz="1400" b="1" dirty="0">
                <a:solidFill>
                  <a:srgbClr val="1A2B2B"/>
                </a:solidFill>
                <a:latin typeface="Arial" pitchFamily="34" charset="0"/>
                <a:ea typeface="Arial" pitchFamily="34" charset="-122"/>
                <a:cs typeface="Arial" pitchFamily="34" charset="-120"/>
              </a:rPr>
              <a:t>UPDATE example</a:t>
            </a:r>
            <a:endParaRPr lang="en-US" sz="1400" dirty="0"/>
          </a:p>
        </p:txBody>
      </p:sp>
      <p:sp>
        <p:nvSpPr>
          <p:cNvPr id="9" name="Text 6"/>
          <p:cNvSpPr/>
          <p:nvPr/>
        </p:nvSpPr>
        <p:spPr>
          <a:xfrm>
            <a:off x="6675120" y="1655064"/>
            <a:ext cx="4572000" cy="685800"/>
          </a:xfrm>
          <a:prstGeom prst="rect">
            <a:avLst/>
          </a:prstGeom>
          <a:noFill/>
          <a:ln/>
        </p:spPr>
        <p:txBody>
          <a:bodyPr wrap="square" lIns="254" tIns="254" rIns="254" bIns="254" rtlCol="0" anchor="t">
            <a:normAutofit/>
          </a:bodyPr>
          <a:lstStyle/>
          <a:p>
            <a:pPr indent="0" marL="0">
              <a:buNone/>
            </a:pPr>
            <a:r>
              <a:rPr lang="en-US" sz="1250" dirty="0">
                <a:solidFill>
                  <a:srgbClr val="61706E"/>
                </a:solidFill>
                <a:latin typeface="Arial" pitchFamily="34" charset="0"/>
                <a:ea typeface="Arial" pitchFamily="34" charset="-122"/>
                <a:cs typeface="Arial" pitchFamily="34" charset="-120"/>
              </a:rPr>
              <a:t>Incident 3 was updated to Closed and the action taken was recorded. This demonstrates realistic operational data maintenance.</a:t>
            </a:r>
            <a:endParaRPr lang="en-US" sz="1250" dirty="0"/>
          </a:p>
        </p:txBody>
      </p:sp>
      <p:sp>
        <p:nvSpPr>
          <p:cNvPr id="10" name="Shape 7"/>
          <p:cNvSpPr/>
          <p:nvPr/>
        </p:nvSpPr>
        <p:spPr>
          <a:xfrm>
            <a:off x="6537960" y="2752344"/>
            <a:ext cx="9144" cy="1216152"/>
          </a:xfrm>
          <a:prstGeom prst="line">
            <a:avLst/>
          </a:prstGeom>
          <a:noFill/>
          <a:ln w="38100">
            <a:solidFill>
              <a:srgbClr val="D9A441"/>
            </a:solidFill>
            <a:prstDash val="solid"/>
          </a:ln>
        </p:spPr>
        <p:txBody>
          <a:bodyPr/>
          <a:p/>
        </p:txBody>
      </p:sp>
      <p:sp>
        <p:nvSpPr>
          <p:cNvPr id="11" name="Text 8"/>
          <p:cNvSpPr/>
          <p:nvPr/>
        </p:nvSpPr>
        <p:spPr>
          <a:xfrm>
            <a:off x="6675120" y="2697480"/>
            <a:ext cx="4572000" cy="246888"/>
          </a:xfrm>
          <a:prstGeom prst="rect">
            <a:avLst/>
          </a:prstGeom>
          <a:noFill/>
          <a:ln/>
        </p:spPr>
        <p:txBody>
          <a:bodyPr wrap="square" lIns="0" tIns="0" rIns="0" bIns="0" rtlCol="0" anchor="ctr"/>
          <a:lstStyle/>
          <a:p>
            <a:pPr indent="0" marL="0">
              <a:buNone/>
            </a:pPr>
            <a:r>
              <a:rPr lang="en-US" sz="1400" b="1" dirty="0">
                <a:solidFill>
                  <a:srgbClr val="1A2B2B"/>
                </a:solidFill>
                <a:latin typeface="Arial" pitchFamily="34" charset="0"/>
                <a:ea typeface="Arial" pitchFamily="34" charset="-122"/>
                <a:cs typeface="Arial" pitchFamily="34" charset="-120"/>
              </a:rPr>
              <a:t>Implementation limitation</a:t>
            </a:r>
            <a:endParaRPr lang="en-US" sz="1400" dirty="0"/>
          </a:p>
        </p:txBody>
      </p:sp>
      <p:sp>
        <p:nvSpPr>
          <p:cNvPr id="12" name="Text 9"/>
          <p:cNvSpPr/>
          <p:nvPr/>
        </p:nvSpPr>
        <p:spPr>
          <a:xfrm>
            <a:off x="6675120" y="3026664"/>
            <a:ext cx="4572000" cy="1005840"/>
          </a:xfrm>
          <a:prstGeom prst="rect">
            <a:avLst/>
          </a:prstGeom>
          <a:noFill/>
          <a:ln/>
        </p:spPr>
        <p:txBody>
          <a:bodyPr wrap="square" lIns="254" tIns="254" rIns="254" bIns="254" rtlCol="0" anchor="t">
            <a:normAutofit/>
          </a:bodyPr>
          <a:lstStyle/>
          <a:p>
            <a:pPr indent="0" marL="0">
              <a:buNone/>
            </a:pPr>
            <a:r>
              <a:rPr lang="en-US" sz="1250" dirty="0">
                <a:solidFill>
                  <a:srgbClr val="61706E"/>
                </a:solidFill>
                <a:latin typeface="Arial" pitchFamily="34" charset="0"/>
                <a:ea typeface="Arial" pitchFamily="34" charset="-122"/>
                <a:cs typeface="Arial" pitchFamily="34" charset="-120"/>
              </a:rPr>
              <a:t>The conceptual model shows total and disjoint PERSON specialisation. Basic PK/FK constraints represent the subtype relationship, but full enforcement would require triggers or application logic.</a:t>
            </a:r>
            <a:endParaRPr lang="en-US" sz="1250" dirty="0"/>
          </a:p>
        </p:txBody>
      </p:sp>
      <p:sp>
        <p:nvSpPr>
          <p:cNvPr id="13" name="Shape 10"/>
          <p:cNvSpPr/>
          <p:nvPr/>
        </p:nvSpPr>
        <p:spPr>
          <a:xfrm>
            <a:off x="6537960" y="4443984"/>
            <a:ext cx="9144" cy="850392"/>
          </a:xfrm>
          <a:prstGeom prst="line">
            <a:avLst/>
          </a:prstGeom>
          <a:noFill/>
          <a:ln w="38100">
            <a:solidFill>
              <a:srgbClr val="2CA58D"/>
            </a:solidFill>
            <a:prstDash val="solid"/>
          </a:ln>
        </p:spPr>
        <p:txBody>
          <a:bodyPr/>
          <a:p/>
        </p:txBody>
      </p:sp>
      <p:sp>
        <p:nvSpPr>
          <p:cNvPr id="14" name="Text 11"/>
          <p:cNvSpPr/>
          <p:nvPr/>
        </p:nvSpPr>
        <p:spPr>
          <a:xfrm>
            <a:off x="6675120" y="4389120"/>
            <a:ext cx="4572000" cy="246888"/>
          </a:xfrm>
          <a:prstGeom prst="rect">
            <a:avLst/>
          </a:prstGeom>
          <a:noFill/>
          <a:ln/>
        </p:spPr>
        <p:txBody>
          <a:bodyPr wrap="square" lIns="0" tIns="0" rIns="0" bIns="0" rtlCol="0" anchor="ctr"/>
          <a:lstStyle/>
          <a:p>
            <a:pPr indent="0" marL="0">
              <a:buNone/>
            </a:pPr>
            <a:r>
              <a:rPr lang="en-US" sz="1400" b="1" dirty="0">
                <a:solidFill>
                  <a:srgbClr val="1A2B2B"/>
                </a:solidFill>
                <a:latin typeface="Arial" pitchFamily="34" charset="0"/>
                <a:ea typeface="Arial" pitchFamily="34" charset="-122"/>
                <a:cs typeface="Arial" pitchFamily="34" charset="-120"/>
              </a:rPr>
              <a:t>Conclusion</a:t>
            </a:r>
            <a:endParaRPr lang="en-US" sz="1400" dirty="0"/>
          </a:p>
        </p:txBody>
      </p:sp>
      <p:sp>
        <p:nvSpPr>
          <p:cNvPr id="15" name="Text 12"/>
          <p:cNvSpPr/>
          <p:nvPr/>
        </p:nvSpPr>
        <p:spPr>
          <a:xfrm>
            <a:off x="6675120" y="4718304"/>
            <a:ext cx="4572000" cy="640080"/>
          </a:xfrm>
          <a:prstGeom prst="rect">
            <a:avLst/>
          </a:prstGeom>
          <a:noFill/>
          <a:ln/>
        </p:spPr>
        <p:txBody>
          <a:bodyPr wrap="square" lIns="254" tIns="254" rIns="254" bIns="254" rtlCol="0" anchor="t">
            <a:normAutofit/>
          </a:bodyPr>
          <a:lstStyle/>
          <a:p>
            <a:pPr indent="0" marL="0">
              <a:buNone/>
            </a:pPr>
            <a:r>
              <a:rPr lang="en-US" sz="1250" dirty="0">
                <a:solidFill>
                  <a:srgbClr val="61706E"/>
                </a:solidFill>
                <a:latin typeface="Arial" pitchFamily="34" charset="0"/>
                <a:ea typeface="Arial" pitchFamily="34" charset="-122"/>
                <a:cs typeface="Arial" pitchFamily="34" charset="-120"/>
              </a:rPr>
              <a:t>The system delivers a consistent conceptual, logical and physical design with normalized relations, realistic sample data and tested SQL queries.</a:t>
            </a:r>
            <a:endParaRPr lang="en-US" sz="1250" dirty="0"/>
          </a:p>
        </p:txBody>
      </p:sp>
      <p:sp>
        <p:nvSpPr>
          <p:cNvPr id="16" name="Text 13"/>
          <p:cNvSpPr/>
          <p:nvPr/>
        </p:nvSpPr>
        <p:spPr>
          <a:xfrm>
            <a:off x="502920" y="6080760"/>
            <a:ext cx="11064240" cy="320040"/>
          </a:xfrm>
          <a:prstGeom prst="rect">
            <a:avLst/>
          </a:prstGeom>
          <a:noFill/>
          <a:ln/>
        </p:spPr>
        <p:txBody>
          <a:bodyPr wrap="square" lIns="0" tIns="0" rIns="0" bIns="0" rtlCol="0" anchor="ctr">
            <a:normAutofit/>
          </a:bodyPr>
          <a:lstStyle/>
          <a:p>
            <a:pPr indent="0" marL="0">
              <a:buNone/>
            </a:pPr>
            <a:r>
              <a:rPr lang="en-US" sz="1150" i="1" dirty="0">
                <a:solidFill>
                  <a:srgbClr val="61706E"/>
                </a:solidFill>
              </a:rPr>
              <a:t>Submission reminder: ZIP should include diagrams PDF and final SQLite-compatible .sql file. Upload presentation recording as an unlisted YouTube link.</a:t>
            </a:r>
            <a:endParaRPr lang="en-US" sz="1150" dirty="0"/>
          </a:p>
        </p:txBody>
      </p:sp>
      <p:sp>
        <p:nvSpPr>
          <p:cNvPr id="17" name="Text 14"/>
          <p:cNvSpPr/>
          <p:nvPr/>
        </p:nvSpPr>
        <p:spPr>
          <a:xfrm>
            <a:off x="502920" y="6537960"/>
            <a:ext cx="11155680" cy="146304"/>
          </a:xfrm>
          <a:prstGeom prst="rect">
            <a:avLst/>
          </a:prstGeom>
          <a:noFill/>
          <a:ln/>
        </p:spPr>
        <p:txBody>
          <a:bodyPr wrap="square" lIns="0" tIns="0" rIns="0" bIns="0" rtlCol="0" anchor="ctr"/>
          <a:lstStyle/>
          <a:p>
            <a:pPr indent="0" marL="0">
              <a:buNone/>
            </a:pPr>
            <a:r>
              <a:rPr lang="en-US" sz="750" dirty="0">
                <a:solidFill>
                  <a:srgbClr val="61706E"/>
                </a:solidFill>
                <a:latin typeface="Arial" pitchFamily="34" charset="0"/>
                <a:ea typeface="Arial" pitchFamily="34" charset="-122"/>
                <a:cs typeface="Arial" pitchFamily="34" charset="-120"/>
              </a:rPr>
              <a:t>PRT563 Advanced Data Management  ·  Darwin Group 7  ·  12</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Charles Darwin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Aged-Care &amp; Disability-Support Service Management System</dc:title>
  <dc:subject>PRT563 Advanced Data Management</dc:subject>
  <dc:creator>Darwin Group 7</dc:creator>
  <cp:lastModifiedBy>Darwin Group 7</cp:lastModifiedBy>
  <cp:revision>1</cp:revision>
  <dcterms:created xsi:type="dcterms:W3CDTF">2026-09-09T03:33:01Z</dcterms:created>
  <dcterms:modified xsi:type="dcterms:W3CDTF">2026-09-09T03:33:01Z</dcterms:modified>
</cp:coreProperties>
</file>